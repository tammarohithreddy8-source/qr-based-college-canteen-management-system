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8"/>
  </p:notesMasterIdLst>
  <p:handoutMasterIdLst>
    <p:handoutMasterId r:id="rId19"/>
  </p:handoutMasterIdLst>
  <p:sldIdLst>
    <p:sldId id="271" r:id="rId2"/>
    <p:sldId id="305" r:id="rId3"/>
    <p:sldId id="306" r:id="rId4"/>
    <p:sldId id="307" r:id="rId5"/>
    <p:sldId id="308" r:id="rId6"/>
    <p:sldId id="317" r:id="rId7"/>
    <p:sldId id="309" r:id="rId8"/>
    <p:sldId id="310" r:id="rId9"/>
    <p:sldId id="311" r:id="rId10"/>
    <p:sldId id="318" r:id="rId11"/>
    <p:sldId id="319" r:id="rId12"/>
    <p:sldId id="312" r:id="rId13"/>
    <p:sldId id="313" r:id="rId14"/>
    <p:sldId id="314" r:id="rId15"/>
    <p:sldId id="315" r:id="rId16"/>
    <p:sldId id="316"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5F96779-8682-4CD9-90C2-D7A49281830D}">
          <p14:sldIdLst>
            <p14:sldId id="271"/>
            <p14:sldId id="305"/>
            <p14:sldId id="306"/>
            <p14:sldId id="307"/>
            <p14:sldId id="308"/>
            <p14:sldId id="317"/>
            <p14:sldId id="309"/>
            <p14:sldId id="310"/>
            <p14:sldId id="311"/>
            <p14:sldId id="318"/>
            <p14:sldId id="319"/>
            <p14:sldId id="312"/>
            <p14:sldId id="313"/>
            <p14:sldId id="314"/>
            <p14:sldId id="315"/>
            <p14:sldId id="316"/>
          </p14:sldIdLst>
        </p14:section>
        <p14:section name="Untitled Section" id="{18D748A1-B9CB-40AB-9130-D732C7E4D7E9}">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0DD8ACB-2480-836F-8513-F809A1C233EF}" name="Abraham Dinakaran J" initials="ADJ" userId="S::adinakaran@kluniversity.in::a265c4b0-0b4d-41cc-8169-c05df22ffe7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1666" y="12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A60A6ED-D754-3A90-DAF7-70FD5B2425F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91D1BF4-1F04-3875-1E59-B801C90A593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62FC287-3538-4997-9970-44BF1FF30DD5}" type="datetime1">
              <a:rPr lang="en-IN" smtClean="0"/>
              <a:t>01-04-2026</a:t>
            </a:fld>
            <a:endParaRPr lang="en-US"/>
          </a:p>
        </p:txBody>
      </p:sp>
      <p:sp>
        <p:nvSpPr>
          <p:cNvPr id="4" name="Footer Placeholder 3">
            <a:extLst>
              <a:ext uri="{FF2B5EF4-FFF2-40B4-BE49-F238E27FC236}">
                <a16:creationId xmlns:a16="http://schemas.microsoft.com/office/drawing/2014/main" id="{520EF107-E196-D5EA-171E-D24D64E6F4F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21B73E3-5749-B011-7B11-AC37348307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71FDA32-7B86-4AE0-9240-7E2DEEC04CE4}" type="slidenum">
              <a:rPr lang="en-US" smtClean="0"/>
              <a:t>‹#›</a:t>
            </a:fld>
            <a:endParaRPr lang="en-US"/>
          </a:p>
        </p:txBody>
      </p:sp>
    </p:spTree>
    <p:extLst>
      <p:ext uri="{BB962C8B-B14F-4D97-AF65-F5344CB8AC3E}">
        <p14:creationId xmlns:p14="http://schemas.microsoft.com/office/powerpoint/2010/main" val="394643150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01657D-0517-4C9F-B58C-7229AAFEBC31}" type="datetime1">
              <a:rPr lang="en-IN" smtClean="0"/>
              <a:t>01-04-2026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A71A4B-7F78-4497-A7BB-B19313066BC2}" type="slidenum">
              <a:rPr lang="en-IN" smtClean="0"/>
              <a:t>‹#›</a:t>
            </a:fld>
            <a:endParaRPr lang="en-IN"/>
          </a:p>
        </p:txBody>
      </p:sp>
    </p:spTree>
    <p:extLst>
      <p:ext uri="{BB962C8B-B14F-4D97-AF65-F5344CB8AC3E}">
        <p14:creationId xmlns:p14="http://schemas.microsoft.com/office/powerpoint/2010/main" val="2959752881"/>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 name="Date Placeholder 1">
            <a:extLst>
              <a:ext uri="{FF2B5EF4-FFF2-40B4-BE49-F238E27FC236}">
                <a16:creationId xmlns:a16="http://schemas.microsoft.com/office/drawing/2014/main" id="{76321978-3473-EC9A-5F36-618E485DBE5F}"/>
              </a:ext>
            </a:extLst>
          </p:cNvPr>
          <p:cNvSpPr>
            <a:spLocks noGrp="1"/>
          </p:cNvSpPr>
          <p:nvPr>
            <p:ph type="dt" idx="1"/>
          </p:nvPr>
        </p:nvSpPr>
        <p:spPr/>
        <p:txBody>
          <a:bodyPr/>
          <a:lstStyle/>
          <a:p>
            <a:fld id="{3E581EE8-6511-46D3-8A2A-80CFF2C8D0A3}" type="datetime1">
              <a:rPr lang="en-IN" smtClean="0"/>
              <a:t>01-04-2026</a:t>
            </a:fld>
            <a:endParaRPr lang="en-IN"/>
          </a:p>
        </p:txBody>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990600" y="6526385"/>
            <a:ext cx="1200150" cy="266702"/>
          </a:xfrm>
          <a:prstGeom prst="rect">
            <a:avLst/>
          </a:prstGeom>
        </p:spPr>
        <p:txBody>
          <a:bodyPr/>
          <a:lstStyle>
            <a:lvl1pPr>
              <a:defRPr sz="900"/>
            </a:lvl1pPr>
          </a:lstStyle>
          <a:p>
            <a:fld id="{8453BCF2-CB48-4BA2-A036-8950CD1C6A93}" type="datetime1">
              <a:rPr lang="en-US" smtClean="0">
                <a:solidFill>
                  <a:prstClr val="black">
                    <a:tint val="75000"/>
                  </a:prstClr>
                </a:solidFill>
              </a:rPr>
              <a:pPr/>
              <a:t>4/1/2026</a:t>
            </a:fld>
            <a:endParaRPr lang="en-US" dirty="0">
              <a:solidFill>
                <a:prstClr val="black">
                  <a:tint val="75000"/>
                </a:prstClr>
              </a:solidFill>
            </a:endParaRPr>
          </a:p>
        </p:txBody>
      </p:sp>
      <p:sp>
        <p:nvSpPr>
          <p:cNvPr id="5" name="Footer Placeholder 4"/>
          <p:cNvSpPr>
            <a:spLocks noGrp="1"/>
          </p:cNvSpPr>
          <p:nvPr>
            <p:ph type="ftr" sz="quarter" idx="11"/>
          </p:nvPr>
        </p:nvSpPr>
        <p:spPr>
          <a:xfrm>
            <a:off x="5943600" y="6427961"/>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4191000" y="6535592"/>
            <a:ext cx="457200" cy="266701"/>
          </a:xfrm>
          <a:prstGeom prst="rect">
            <a:avLst/>
          </a:prstGeom>
        </p:spPr>
        <p:txBody>
          <a:bodyPr/>
          <a:lstStyle>
            <a:lvl1pPr>
              <a:defRPr sz="900"/>
            </a:lvl1p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493328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628650" y="6492875"/>
            <a:ext cx="1123950" cy="267280"/>
          </a:xfrm>
          <a:prstGeom prst="rect">
            <a:avLst/>
          </a:prstGeom>
        </p:spPr>
        <p:txBody>
          <a:bodyPr/>
          <a:lstStyle>
            <a:lvl1pPr>
              <a:defRPr sz="900"/>
            </a:lvl1pPr>
          </a:lstStyle>
          <a:p>
            <a:fld id="{F0926A81-3A46-4B7B-A2F8-E2A558D9191F}" type="datetime1">
              <a:rPr lang="en-US" smtClean="0">
                <a:solidFill>
                  <a:prstClr val="black">
                    <a:tint val="75000"/>
                  </a:prstClr>
                </a:solidFill>
              </a:rPr>
              <a:pPr/>
              <a:t>4/1/2026</a:t>
            </a:fld>
            <a:endParaRPr lang="en-US" dirty="0">
              <a:solidFill>
                <a:prstClr val="black">
                  <a:tint val="75000"/>
                </a:prstClr>
              </a:solidFill>
            </a:endParaRPr>
          </a:p>
        </p:txBody>
      </p:sp>
      <p:sp>
        <p:nvSpPr>
          <p:cNvPr id="6" name="Slide Number Placeholder 5"/>
          <p:cNvSpPr>
            <a:spLocks noGrp="1"/>
          </p:cNvSpPr>
          <p:nvPr>
            <p:ph type="sldNum" sz="quarter" idx="12"/>
          </p:nvPr>
        </p:nvSpPr>
        <p:spPr>
          <a:xfrm>
            <a:off x="3962400" y="6492875"/>
            <a:ext cx="2057400" cy="365125"/>
          </a:xfrm>
          <a:prstGeom prst="rect">
            <a:avLst/>
          </a:prstGeom>
        </p:spPr>
        <p:txBody>
          <a:bodyPr/>
          <a:lstStyle>
            <a:lvl1pPr>
              <a:defRPr sz="900"/>
            </a:lvl1pPr>
          </a:lstStyle>
          <a:p>
            <a:fld id="{B3561BA9-CDCF-4958-B8AB-66F3BF063E13}"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055454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7497C174-5A51-4D18-8F67-D9F14D2F34C3}" type="datetime1">
              <a:rPr lang="en-US" smtClean="0">
                <a:solidFill>
                  <a:prstClr val="black">
                    <a:tint val="75000"/>
                  </a:prstClr>
                </a:solidFill>
              </a:rPr>
              <a:t>4/1/2026</a:t>
            </a:fld>
            <a:endParaRPr lang="en-US">
              <a:solidFill>
                <a:prstClr val="black">
                  <a:tint val="75000"/>
                </a:prstClr>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01138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1CE59E2F-5892-435A-AE19-CDF7821064E4}" type="datetime1">
              <a:rPr lang="en-US" smtClean="0">
                <a:solidFill>
                  <a:prstClr val="black">
                    <a:tint val="75000"/>
                  </a:prstClr>
                </a:solidFill>
              </a:rPr>
              <a:t>4/1/2026</a:t>
            </a:fld>
            <a:endParaRPr lang="en-US">
              <a:solidFill>
                <a:prstClr val="black">
                  <a:tint val="75000"/>
                </a:prstClr>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01469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BEFAB2A4-D3CE-4715-B935-416579E77195}" type="datetime1">
              <a:rPr lang="en-US" smtClean="0">
                <a:solidFill>
                  <a:prstClr val="black">
                    <a:tint val="75000"/>
                  </a:prstClr>
                </a:solidFill>
              </a:rPr>
              <a:t>4/1/2026</a:t>
            </a:fld>
            <a:endParaRPr lang="en-US">
              <a:solidFill>
                <a:prstClr val="black">
                  <a:tint val="75000"/>
                </a:prstClr>
              </a:solidFill>
            </a:endParaRPr>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6890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AB65A450-9487-4E64-AB52-9E7DA1C37762}" type="datetime1">
              <a:rPr lang="en-US" smtClean="0">
                <a:solidFill>
                  <a:prstClr val="black">
                    <a:tint val="75000"/>
                  </a:prstClr>
                </a:solidFill>
              </a:rPr>
              <a:t>4/1/2026</a:t>
            </a:fld>
            <a:endParaRPr lang="en-US">
              <a:solidFill>
                <a:prstClr val="black">
                  <a:tint val="75000"/>
                </a:prstClr>
              </a:solidFill>
            </a:endParaRP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699666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6C014150-8307-4D3C-BBBB-0734CBD939B0}" type="datetime1">
              <a:rPr lang="en-US" smtClean="0">
                <a:solidFill>
                  <a:prstClr val="black">
                    <a:tint val="75000"/>
                  </a:prstClr>
                </a:solidFill>
              </a:rPr>
              <a:t>4/1/2026</a:t>
            </a:fld>
            <a:endParaRPr lang="en-US">
              <a:solidFill>
                <a:prstClr val="black">
                  <a:tint val="75000"/>
                </a:prstClr>
              </a:solidFill>
            </a:endParaRPr>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36518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7D880DA0-68D9-4E75-BA39-DC1403DEB0D4}" type="datetime1">
              <a:rPr lang="en-US" smtClean="0">
                <a:solidFill>
                  <a:prstClr val="black">
                    <a:tint val="75000"/>
                  </a:prstClr>
                </a:solidFill>
              </a:rPr>
              <a:t>4/1/2026</a:t>
            </a:fld>
            <a:endParaRPr lang="en-US">
              <a:solidFill>
                <a:prstClr val="black">
                  <a:tint val="75000"/>
                </a:prstClr>
              </a:solidFill>
            </a:endParaRPr>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026722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4B4E1A77-28DA-48C1-B06D-78B5B0A2C0A2}" type="datetime1">
              <a:rPr lang="en-US" smtClean="0">
                <a:solidFill>
                  <a:prstClr val="black">
                    <a:tint val="75000"/>
                  </a:prstClr>
                </a:solidFill>
              </a:rPr>
              <a:t>4/1/2026</a:t>
            </a:fld>
            <a:endParaRPr lang="en-US">
              <a:solidFill>
                <a:prstClr val="black">
                  <a:tint val="75000"/>
                </a:prstClr>
              </a:solidFill>
            </a:endParaRPr>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89187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28650" y="365125"/>
            <a:ext cx="78867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296EF5A3-7886-44C2-92BF-298F6F904133}" type="datetime1">
              <a:rPr lang="en-US" smtClean="0">
                <a:solidFill>
                  <a:prstClr val="black">
                    <a:tint val="75000"/>
                  </a:prstClr>
                </a:solidFill>
              </a:rPr>
              <a:t>4/1/2026</a:t>
            </a:fld>
            <a:endParaRPr lang="en-US">
              <a:solidFill>
                <a:prstClr val="black">
                  <a:tint val="75000"/>
                </a:prstClr>
              </a:solidFill>
            </a:endParaRPr>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51692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userDrawn="1">
  <p:cSld name="1_Title and Content">
    <p:spTree>
      <p:nvGrpSpPr>
        <p:cNvPr id="1" name="Shape 48"/>
        <p:cNvGrpSpPr/>
        <p:nvPr/>
      </p:nvGrpSpPr>
      <p:grpSpPr>
        <a:xfrm>
          <a:off x="0" y="0"/>
          <a:ext cx="0" cy="0"/>
          <a:chOff x="0" y="0"/>
          <a:chExt cx="0" cy="0"/>
        </a:xfrm>
      </p:grpSpPr>
    </p:spTree>
    <p:extLst>
      <p:ext uri="{BB962C8B-B14F-4D97-AF65-F5344CB8AC3E}">
        <p14:creationId xmlns:p14="http://schemas.microsoft.com/office/powerpoint/2010/main" val="2761484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AD2B12-09F5-6D4A-9C1D-AFF6A38F62BF}"/>
              </a:ext>
            </a:extLst>
          </p:cNvPr>
          <p:cNvSpPr/>
          <p:nvPr userDrawn="1"/>
        </p:nvSpPr>
        <p:spPr>
          <a:xfrm>
            <a:off x="0" y="6812282"/>
            <a:ext cx="9144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1"/>
            <a:ext cx="9144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3">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4419600" y="3179470"/>
            <a:ext cx="4648200" cy="3588778"/>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1599051" cy="184666"/>
          </a:xfrm>
          <a:prstGeom prst="rect">
            <a:avLst/>
          </a:prstGeom>
          <a:noFill/>
        </p:spPr>
        <p:txBody>
          <a:bodyPr wrap="square" rtlCol="0">
            <a:spAutoFit/>
          </a:bodyPr>
          <a:lstStyle/>
          <a:p>
            <a:r>
              <a:rPr lang="en-US" sz="600">
                <a:solidFill>
                  <a:schemeClr val="bg1">
                    <a:lumMod val="95000"/>
                  </a:schemeClr>
                </a:solidFill>
              </a:rPr>
              <a:t>CREATED BY K. VICTOR BABU</a:t>
            </a:r>
          </a:p>
        </p:txBody>
      </p:sp>
      <p:pic>
        <p:nvPicPr>
          <p:cNvPr id="4" name="Picture 3">
            <a:extLst>
              <a:ext uri="{FF2B5EF4-FFF2-40B4-BE49-F238E27FC236}">
                <a16:creationId xmlns:a16="http://schemas.microsoft.com/office/drawing/2014/main" id="{4D69AF5A-AC2F-36ED-506D-7C37D0453E6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6200" y="45720"/>
            <a:ext cx="838201" cy="792479"/>
          </a:xfrm>
          <a:prstGeom prst="rect">
            <a:avLst/>
          </a:prstGeom>
        </p:spPr>
      </p:pic>
      <p:pic>
        <p:nvPicPr>
          <p:cNvPr id="13" name="Picture 12">
            <a:extLst>
              <a:ext uri="{FF2B5EF4-FFF2-40B4-BE49-F238E27FC236}">
                <a16:creationId xmlns:a16="http://schemas.microsoft.com/office/drawing/2014/main" id="{1E27DCBA-940B-49AA-1A04-53135CCC5394}"/>
              </a:ext>
            </a:extLst>
          </p:cNvPr>
          <p:cNvPicPr>
            <a:picLocks noChangeAspect="1"/>
          </p:cNvPicPr>
          <p:nvPr userDrawn="1"/>
        </p:nvPicPr>
        <p:blipFill>
          <a:blip r:embed="rId15" cstate="print">
            <a:extLst>
              <a:ext uri="{28A0092B-C50C-407E-A947-70E740481C1C}">
                <a14:useLocalDpi xmlns:a14="http://schemas.microsoft.com/office/drawing/2010/main" val="0"/>
              </a:ext>
            </a:extLst>
          </a:blip>
          <a:stretch>
            <a:fillRect/>
          </a:stretch>
        </p:blipFill>
        <p:spPr>
          <a:xfrm>
            <a:off x="6710196" y="6400799"/>
            <a:ext cx="2331280" cy="343587"/>
          </a:xfrm>
          <a:prstGeom prst="rect">
            <a:avLst/>
          </a:prstGeom>
        </p:spPr>
      </p:pic>
      <p:pic>
        <p:nvPicPr>
          <p:cNvPr id="16" name="Picture 15">
            <a:extLst>
              <a:ext uri="{FF2B5EF4-FFF2-40B4-BE49-F238E27FC236}">
                <a16:creationId xmlns:a16="http://schemas.microsoft.com/office/drawing/2014/main" id="{523D559A-CBC2-B8F4-6F19-4FADD0B35569}"/>
              </a:ext>
            </a:extLst>
          </p:cNvPr>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227828" y="228600"/>
            <a:ext cx="458972" cy="456364"/>
          </a:xfrm>
          <a:prstGeom prst="rect">
            <a:avLst/>
          </a:prstGeom>
        </p:spPr>
      </p:pic>
    </p:spTree>
    <p:extLst>
      <p:ext uri="{BB962C8B-B14F-4D97-AF65-F5344CB8AC3E}">
        <p14:creationId xmlns:p14="http://schemas.microsoft.com/office/powerpoint/2010/main" val="837032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B9F0C376-F4D3-1950-3474-EFF28411BDC6}"/>
              </a:ext>
            </a:extLst>
          </p:cNvPr>
          <p:cNvSpPr/>
          <p:nvPr/>
        </p:nvSpPr>
        <p:spPr>
          <a:xfrm>
            <a:off x="3124200" y="1115413"/>
            <a:ext cx="3364748" cy="431074"/>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endParaRPr lang="en-US" sz="1350">
              <a:solidFill>
                <a:prstClr val="white"/>
              </a:solidFill>
              <a:latin typeface="Calibri"/>
            </a:endParaRPr>
          </a:p>
        </p:txBody>
      </p:sp>
      <p:sp>
        <p:nvSpPr>
          <p:cNvPr id="475" name="Google Shape;475;p16"/>
          <p:cNvSpPr txBox="1"/>
          <p:nvPr/>
        </p:nvSpPr>
        <p:spPr>
          <a:xfrm>
            <a:off x="2492519" y="1051115"/>
            <a:ext cx="4382085" cy="530884"/>
          </a:xfrm>
          <a:prstGeom prst="rect">
            <a:avLst/>
          </a:prstGeom>
          <a:noFill/>
          <a:ln>
            <a:noFill/>
          </a:ln>
          <a:effectLst/>
        </p:spPr>
        <p:txBody>
          <a:bodyPr spcFirstLastPara="1" wrap="square" lIns="68569" tIns="34275" rIns="68569" bIns="34275" anchor="t" anchorCtr="0">
            <a:spAutoFit/>
          </a:bodyPr>
          <a:lstStyle/>
          <a:p>
            <a:pPr algn="ctr" defTabSz="685800"/>
            <a:r>
              <a:rPr lang="en-US" sz="3000" dirty="0">
                <a:solidFill>
                  <a:srgbClr val="C00000"/>
                </a:solidFill>
                <a:latin typeface="Calibri"/>
                <a:cs typeface="Poppins" pitchFamily="2" charset="77"/>
              </a:rPr>
              <a:t>  Department of MCA</a:t>
            </a:r>
          </a:p>
        </p:txBody>
      </p:sp>
      <p:sp>
        <p:nvSpPr>
          <p:cNvPr id="4" name="TextBox 3">
            <a:extLst>
              <a:ext uri="{FF2B5EF4-FFF2-40B4-BE49-F238E27FC236}">
                <a16:creationId xmlns:a16="http://schemas.microsoft.com/office/drawing/2014/main" id="{D26564C1-42F5-AD4A-0ADC-BCBCEC726661}"/>
              </a:ext>
            </a:extLst>
          </p:cNvPr>
          <p:cNvSpPr txBox="1"/>
          <p:nvPr/>
        </p:nvSpPr>
        <p:spPr>
          <a:xfrm>
            <a:off x="1219200" y="1955103"/>
            <a:ext cx="6934200" cy="1477328"/>
          </a:xfrm>
          <a:prstGeom prst="rect">
            <a:avLst/>
          </a:prstGeom>
          <a:noFill/>
        </p:spPr>
        <p:txBody>
          <a:bodyPr wrap="square">
            <a:spAutoFit/>
          </a:bodyPr>
          <a:lstStyle/>
          <a:p>
            <a:br>
              <a:rPr lang="en-US" sz="2400" dirty="0">
                <a:solidFill>
                  <a:schemeClr val="accent4">
                    <a:lumMod val="50000"/>
                  </a:schemeClr>
                </a:solidFill>
                <a:latin typeface="Times New Roman" panose="02020603050405020304" pitchFamily="18" charset="0"/>
                <a:cs typeface="Times New Roman" panose="02020603050405020304" pitchFamily="18" charset="0"/>
              </a:rPr>
            </a:br>
            <a:r>
              <a:rPr lang="en-US" b="1" dirty="0">
                <a:solidFill>
                  <a:srgbClr val="FF0000"/>
                </a:solidFill>
                <a:latin typeface="Times New Roman" panose="02020603050405020304" pitchFamily="18" charset="0"/>
                <a:cs typeface="Times New Roman" panose="02020603050405020304" pitchFamily="18" charset="0"/>
              </a:rPr>
              <a:t>QR BASED COLLEGE CANTEEN MANAGEMENT SYSTEM</a:t>
            </a:r>
            <a:br>
              <a:rPr lang="en-US" sz="2400" dirty="0">
                <a:solidFill>
                  <a:schemeClr val="accent4">
                    <a:lumMod val="50000"/>
                  </a:schemeClr>
                </a:solidFill>
                <a:latin typeface="Times New Roman" panose="02020603050405020304" pitchFamily="18" charset="0"/>
                <a:cs typeface="Times New Roman" panose="02020603050405020304" pitchFamily="18" charset="0"/>
              </a:rPr>
            </a:br>
            <a:br>
              <a:rPr lang="en-US" sz="2400" dirty="0">
                <a:solidFill>
                  <a:schemeClr val="accent4">
                    <a:lumMod val="50000"/>
                  </a:schemeClr>
                </a:solidFill>
                <a:latin typeface="Times New Roman" panose="02020603050405020304" pitchFamily="18" charset="0"/>
                <a:cs typeface="Times New Roman" panose="02020603050405020304" pitchFamily="18" charset="0"/>
              </a:rPr>
            </a:br>
            <a:r>
              <a:rPr lang="en-US" sz="2400" dirty="0">
                <a:solidFill>
                  <a:schemeClr val="accent4">
                    <a:lumMod val="50000"/>
                  </a:schemeClr>
                </a:solidFill>
                <a:latin typeface="Times New Roman" panose="02020603050405020304" pitchFamily="18" charset="0"/>
                <a:cs typeface="Times New Roman" panose="02020603050405020304" pitchFamily="18" charset="0"/>
              </a:rPr>
              <a:t>Under the Guidance of  </a:t>
            </a:r>
            <a:r>
              <a:rPr lang="en-US" sz="2000" dirty="0">
                <a:solidFill>
                  <a:schemeClr val="accent4">
                    <a:lumMod val="50000"/>
                  </a:schemeClr>
                </a:solidFill>
                <a:latin typeface="Times New Roman" panose="02020603050405020304" pitchFamily="18" charset="0"/>
                <a:cs typeface="Times New Roman" panose="02020603050405020304" pitchFamily="18" charset="0"/>
              </a:rPr>
              <a:t>Dr MNV KIRAN BABU</a:t>
            </a:r>
          </a:p>
        </p:txBody>
      </p:sp>
      <p:sp>
        <p:nvSpPr>
          <p:cNvPr id="6" name="TextBox 5">
            <a:extLst>
              <a:ext uri="{FF2B5EF4-FFF2-40B4-BE49-F238E27FC236}">
                <a16:creationId xmlns:a16="http://schemas.microsoft.com/office/drawing/2014/main" id="{E85A6002-0BD6-E007-0EEC-34FFB9F2484A}"/>
              </a:ext>
            </a:extLst>
          </p:cNvPr>
          <p:cNvSpPr txBox="1"/>
          <p:nvPr/>
        </p:nvSpPr>
        <p:spPr>
          <a:xfrm>
            <a:off x="5638800" y="4267200"/>
            <a:ext cx="3352800" cy="1477328"/>
          </a:xfrm>
          <a:prstGeom prst="rect">
            <a:avLst/>
          </a:prstGeom>
          <a:noFill/>
        </p:spPr>
        <p:txBody>
          <a:bodyPr wrap="square">
            <a:spAutoFit/>
          </a:bodyPr>
          <a:lstStyle/>
          <a:p>
            <a:r>
              <a:rPr lang="en-US" dirty="0">
                <a:solidFill>
                  <a:schemeClr val="accent1">
                    <a:lumMod val="50000"/>
                  </a:schemeClr>
                </a:solidFill>
              </a:rPr>
              <a:t>By :</a:t>
            </a:r>
          </a:p>
          <a:p>
            <a:r>
              <a:rPr lang="en-US" dirty="0">
                <a:solidFill>
                  <a:schemeClr val="accent1">
                    <a:lumMod val="50000"/>
                  </a:schemeClr>
                </a:solidFill>
              </a:rPr>
              <a:t>Student Name </a:t>
            </a:r>
            <a:r>
              <a:rPr lang="en-US" b="1" dirty="0">
                <a:solidFill>
                  <a:srgbClr val="FF0000"/>
                </a:solidFill>
              </a:rPr>
              <a:t>T ROHITH REDDY</a:t>
            </a:r>
          </a:p>
          <a:p>
            <a:r>
              <a:rPr lang="en-US" dirty="0">
                <a:solidFill>
                  <a:schemeClr val="accent1">
                    <a:lumMod val="50000"/>
                  </a:schemeClr>
                </a:solidFill>
              </a:rPr>
              <a:t>Roll No. </a:t>
            </a:r>
            <a:r>
              <a:rPr lang="en-US" dirty="0">
                <a:solidFill>
                  <a:srgbClr val="FF0000"/>
                </a:solidFill>
              </a:rPr>
              <a:t>2401600139</a:t>
            </a:r>
          </a:p>
          <a:p>
            <a:r>
              <a:rPr lang="en-US" dirty="0">
                <a:solidFill>
                  <a:schemeClr val="accent1">
                    <a:lumMod val="50000"/>
                  </a:schemeClr>
                </a:solidFill>
              </a:rPr>
              <a:t>Dept. of MCA.</a:t>
            </a:r>
            <a:br>
              <a:rPr lang="en-US" dirty="0">
                <a:solidFill>
                  <a:schemeClr val="accent1">
                    <a:lumMod val="50000"/>
                  </a:schemeClr>
                </a:solidFill>
              </a:rPr>
            </a:br>
            <a:r>
              <a:rPr lang="en-US" dirty="0">
                <a:solidFill>
                  <a:schemeClr val="accent1">
                    <a:lumMod val="50000"/>
                  </a:schemeClr>
                </a:solidFill>
              </a:rPr>
              <a:t>KL University.</a:t>
            </a: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2E21753-3E0D-605E-7803-9C7F03A4564D}"/>
              </a:ext>
            </a:extLst>
          </p:cNvPr>
          <p:cNvSpPr txBox="1"/>
          <p:nvPr/>
        </p:nvSpPr>
        <p:spPr>
          <a:xfrm>
            <a:off x="3962400" y="709136"/>
            <a:ext cx="1524000" cy="1477328"/>
          </a:xfrm>
          <a:prstGeom prst="rect">
            <a:avLst/>
          </a:prstGeom>
          <a:noFill/>
        </p:spPr>
        <p:txBody>
          <a:bodyPr wrap="square">
            <a:spAutoFit/>
          </a:bodyPr>
          <a:lstStyle/>
          <a:p>
            <a:r>
              <a:rPr lang="en-US" b="1" dirty="0"/>
              <a:t>Introduction</a:t>
            </a:r>
            <a:endParaRPr lang="en-US" dirty="0"/>
          </a:p>
          <a:p>
            <a:br>
              <a:rPr lang="en-US" dirty="0"/>
            </a:br>
            <a:br>
              <a:rPr lang="en-US" dirty="0"/>
            </a:br>
            <a:endParaRPr lang="en-US" dirty="0">
              <a:solidFill>
                <a:schemeClr val="accent4">
                  <a:lumMod val="50000"/>
                </a:schemeClr>
              </a:solidFill>
            </a:endParaRPr>
          </a:p>
          <a:p>
            <a:endParaRPr lang="en-US" dirty="0">
              <a:solidFill>
                <a:schemeClr val="accent4">
                  <a:lumMod val="50000"/>
                </a:schemeClr>
              </a:solidFill>
            </a:endParaRPr>
          </a:p>
        </p:txBody>
      </p:sp>
      <p:sp>
        <p:nvSpPr>
          <p:cNvPr id="5" name="TextBox 4">
            <a:extLst>
              <a:ext uri="{FF2B5EF4-FFF2-40B4-BE49-F238E27FC236}">
                <a16:creationId xmlns:a16="http://schemas.microsoft.com/office/drawing/2014/main" id="{A6D31964-533E-051F-F283-343C2201FDC1}"/>
              </a:ext>
            </a:extLst>
          </p:cNvPr>
          <p:cNvSpPr txBox="1"/>
          <p:nvPr/>
        </p:nvSpPr>
        <p:spPr>
          <a:xfrm>
            <a:off x="342900" y="1981200"/>
            <a:ext cx="8458200" cy="3693319"/>
          </a:xfrm>
          <a:prstGeom prst="rect">
            <a:avLst/>
          </a:prstGeom>
          <a:noFill/>
        </p:spPr>
        <p:txBody>
          <a:bodyPr wrap="square">
            <a:spAutoFit/>
          </a:bodyPr>
          <a:lstStyle/>
          <a:p>
            <a:pPr>
              <a:buFont typeface="Arial" panose="020B0604020202020204" pitchFamily="34" charset="0"/>
              <a:buChar char="•"/>
            </a:pPr>
            <a:r>
              <a:rPr lang="en-US" b="1" dirty="0"/>
              <a:t>Problem statement</a:t>
            </a:r>
          </a:p>
          <a:p>
            <a:endParaRPr lang="en-US" b="1" dirty="0"/>
          </a:p>
          <a:p>
            <a:r>
              <a:rPr lang="en-US" dirty="0"/>
              <a:t>1. Traditional canteen systems rely on manual ordering and billing, causing delays and inefficiency. </a:t>
            </a:r>
          </a:p>
          <a:p>
            <a:r>
              <a:rPr lang="en-US" dirty="0"/>
              <a:t>2. Students face long queues during peak hours, leading to time wastage. </a:t>
            </a:r>
          </a:p>
          <a:p>
            <a:r>
              <a:rPr lang="en-US" dirty="0"/>
              <a:t>3. Manual record keeping results in errors, lack of transparency, and poor management. </a:t>
            </a:r>
          </a:p>
          <a:p>
            <a:r>
              <a:rPr lang="en-US" dirty="0"/>
              <a:t> </a:t>
            </a:r>
          </a:p>
          <a:p>
            <a:pPr>
              <a:buFont typeface="Arial" panose="020B0604020202020204" pitchFamily="34" charset="0"/>
              <a:buChar char="•"/>
            </a:pPr>
            <a:r>
              <a:rPr lang="en-US" b="1" dirty="0"/>
              <a:t>Why this project</a:t>
            </a:r>
            <a:r>
              <a:rPr lang="en-US" dirty="0"/>
              <a:t>?</a:t>
            </a:r>
          </a:p>
          <a:p>
            <a:endParaRPr lang="en-US" dirty="0"/>
          </a:p>
          <a:p>
            <a:r>
              <a:rPr lang="en-US" dirty="0"/>
              <a:t>To reduce waiting time and provide a fast, QR-based ordering system. </a:t>
            </a:r>
          </a:p>
          <a:p>
            <a:r>
              <a:rPr lang="en-US" dirty="0"/>
              <a:t>To minimize human errors in billing and order processing. </a:t>
            </a:r>
          </a:p>
          <a:p>
            <a:r>
              <a:rPr lang="en-US" dirty="0"/>
              <a:t>To improve efficiency through digital records and real-time management. </a:t>
            </a:r>
          </a:p>
          <a:p>
            <a:endParaRPr lang="en-US" dirty="0"/>
          </a:p>
        </p:txBody>
      </p:sp>
    </p:spTree>
    <p:extLst>
      <p:ext uri="{BB962C8B-B14F-4D97-AF65-F5344CB8AC3E}">
        <p14:creationId xmlns:p14="http://schemas.microsoft.com/office/powerpoint/2010/main" val="3029470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0231F2A-80CB-3FB7-FBCC-98BA4C18F073}"/>
              </a:ext>
            </a:extLst>
          </p:cNvPr>
          <p:cNvSpPr txBox="1"/>
          <p:nvPr/>
        </p:nvSpPr>
        <p:spPr>
          <a:xfrm>
            <a:off x="323850" y="1143000"/>
            <a:ext cx="8496300" cy="3693319"/>
          </a:xfrm>
          <a:prstGeom prst="rect">
            <a:avLst/>
          </a:prstGeom>
          <a:noFill/>
        </p:spPr>
        <p:txBody>
          <a:bodyPr wrap="square">
            <a:spAutoFit/>
          </a:bodyPr>
          <a:lstStyle/>
          <a:p>
            <a:pPr>
              <a:buNone/>
            </a:pPr>
            <a:endParaRPr lang="en-US" b="1" dirty="0">
              <a:solidFill>
                <a:schemeClr val="accent4">
                  <a:lumMod val="50000"/>
                </a:schemeClr>
              </a:solidFill>
            </a:endParaRPr>
          </a:p>
          <a:p>
            <a:r>
              <a:rPr lang="en-US" b="1" dirty="0"/>
              <a:t>                                                                Objectives</a:t>
            </a:r>
          </a:p>
          <a:p>
            <a:endParaRPr lang="en-US" dirty="0"/>
          </a:p>
          <a:p>
            <a:r>
              <a:rPr lang="en-US" b="1" dirty="0"/>
              <a:t>What you aim to achieve</a:t>
            </a:r>
          </a:p>
          <a:p>
            <a:endParaRPr lang="en-US" b="1" dirty="0"/>
          </a:p>
          <a:p>
            <a:pPr marL="342900" indent="-342900">
              <a:buAutoNum type="arabicPeriod"/>
            </a:pPr>
            <a:r>
              <a:rPr lang="en-US" dirty="0"/>
              <a:t>To develop a QR-based system for quick and easy food ordering in the college canteen. </a:t>
            </a:r>
          </a:p>
          <a:p>
            <a:endParaRPr lang="en-US" dirty="0"/>
          </a:p>
          <a:p>
            <a:r>
              <a:rPr lang="en-US" b="1" dirty="0"/>
              <a:t>2.</a:t>
            </a:r>
            <a:r>
              <a:rPr lang="en-US" dirty="0"/>
              <a:t> To automate billing and order management for improved accuracy and efficiency. </a:t>
            </a:r>
          </a:p>
          <a:p>
            <a:endParaRPr lang="en-US" dirty="0"/>
          </a:p>
          <a:p>
            <a:r>
              <a:rPr lang="en-US" b="1" dirty="0"/>
              <a:t>3.</a:t>
            </a:r>
            <a:r>
              <a:rPr lang="en-US" dirty="0"/>
              <a:t> To provide a user-friendly platform for students and staff with real-time order tracking. </a:t>
            </a:r>
          </a:p>
          <a:p>
            <a:endParaRPr lang="en-US" dirty="0"/>
          </a:p>
          <a:p>
            <a:pPr>
              <a:buFont typeface="Arial" panose="020B0604020202020204" pitchFamily="34" charset="0"/>
              <a:buChar char="•"/>
            </a:pPr>
            <a:endParaRPr lang="en-US" dirty="0">
              <a:solidFill>
                <a:schemeClr val="accent4">
                  <a:lumMod val="50000"/>
                </a:schemeClr>
              </a:solidFill>
            </a:endParaRPr>
          </a:p>
        </p:txBody>
      </p:sp>
    </p:spTree>
    <p:extLst>
      <p:ext uri="{BB962C8B-B14F-4D97-AF65-F5344CB8AC3E}">
        <p14:creationId xmlns:p14="http://schemas.microsoft.com/office/powerpoint/2010/main" val="37540415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D94ED9-ADFF-4FC2-B853-609D2D1326CE}"/>
              </a:ext>
            </a:extLst>
          </p:cNvPr>
          <p:cNvSpPr txBox="1"/>
          <p:nvPr/>
        </p:nvSpPr>
        <p:spPr>
          <a:xfrm>
            <a:off x="304800" y="990600"/>
            <a:ext cx="8686800" cy="4001095"/>
          </a:xfrm>
          <a:prstGeom prst="rect">
            <a:avLst/>
          </a:prstGeom>
          <a:noFill/>
        </p:spPr>
        <p:txBody>
          <a:bodyPr wrap="square">
            <a:spAutoFit/>
          </a:bodyPr>
          <a:lstStyle/>
          <a:p>
            <a:r>
              <a:rPr lang="en-US" b="1" dirty="0">
                <a:solidFill>
                  <a:schemeClr val="accent4">
                    <a:lumMod val="50000"/>
                  </a:schemeClr>
                </a:solidFill>
              </a:rPr>
              <a:t>                                                    </a:t>
            </a:r>
            <a:r>
              <a:rPr lang="en-US" b="1" dirty="0"/>
              <a:t>Literature Survey</a:t>
            </a:r>
          </a:p>
          <a:p>
            <a:endParaRPr lang="en-US" b="1" dirty="0"/>
          </a:p>
          <a:p>
            <a:r>
              <a:rPr lang="en-US" sz="2000" dirty="0"/>
              <a:t>Many existing canteen management systems are based on manual or semi-digital processes, which are time-consuming and less efficient. Some web-based systems have been developed to simplify ordering, but they often lack real-time tracking and automation features. Research shows that digital solutions improve service speed and reduce human errors. The use of QR code technology has gained popularity for contactless transactions and easy access to services. Online payment integration further enhances convenience and security. These advancements highlight the need for a smart, QR-based canteen management system to improve overall efficiency and user experience.</a:t>
            </a:r>
          </a:p>
          <a:p>
            <a:endParaRPr lang="en-US" sz="2000" dirty="0"/>
          </a:p>
          <a:p>
            <a:pPr>
              <a:buNone/>
            </a:pPr>
            <a:endParaRPr lang="en-US" dirty="0">
              <a:solidFill>
                <a:schemeClr val="accent4">
                  <a:lumMod val="50000"/>
                </a:schemeClr>
              </a:solidFill>
            </a:endParaRPr>
          </a:p>
        </p:txBody>
      </p:sp>
    </p:spTree>
    <p:extLst>
      <p:ext uri="{BB962C8B-B14F-4D97-AF65-F5344CB8AC3E}">
        <p14:creationId xmlns:p14="http://schemas.microsoft.com/office/powerpoint/2010/main" val="948947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1D2F0FE-96E2-FF46-4E0B-722889BA4A90}"/>
              </a:ext>
            </a:extLst>
          </p:cNvPr>
          <p:cNvSpPr txBox="1"/>
          <p:nvPr/>
        </p:nvSpPr>
        <p:spPr>
          <a:xfrm>
            <a:off x="457200" y="1295400"/>
            <a:ext cx="8686800" cy="3139321"/>
          </a:xfrm>
          <a:prstGeom prst="rect">
            <a:avLst/>
          </a:prstGeom>
          <a:noFill/>
        </p:spPr>
        <p:txBody>
          <a:bodyPr wrap="square">
            <a:spAutoFit/>
          </a:bodyPr>
          <a:lstStyle/>
          <a:p>
            <a:r>
              <a:rPr lang="en-US" b="1" dirty="0"/>
              <a:t>                                                                 Methodology</a:t>
            </a:r>
          </a:p>
          <a:p>
            <a:endParaRPr lang="en-US" dirty="0"/>
          </a:p>
          <a:p>
            <a:r>
              <a:rPr lang="en-US" b="1" dirty="0"/>
              <a:t>Approach used </a:t>
            </a:r>
          </a:p>
          <a:p>
            <a:endParaRPr lang="en-US" dirty="0"/>
          </a:p>
          <a:p>
            <a:r>
              <a:rPr lang="en-US" dirty="0"/>
              <a:t>1.The system uses a web-based approach integrated with QR code technology for easy access.</a:t>
            </a:r>
            <a:br>
              <a:rPr lang="en-US" dirty="0"/>
            </a:br>
            <a:r>
              <a:rPr lang="en-US" dirty="0"/>
              <a:t>2. Users scan the QR code to view the menu and place orders digitally.</a:t>
            </a:r>
            <a:br>
              <a:rPr lang="en-US" dirty="0"/>
            </a:br>
            <a:r>
              <a:rPr lang="en-US" dirty="0"/>
              <a:t>3. The backend processes requests and stores data in a database.</a:t>
            </a:r>
            <a:br>
              <a:rPr lang="en-US" dirty="0"/>
            </a:br>
            <a:r>
              <a:rPr lang="en-US" dirty="0"/>
              <a:t>4. This approach reduces manual work and improves efficiency and accuracy.</a:t>
            </a:r>
          </a:p>
          <a:p>
            <a:endParaRPr lang="en-US" dirty="0"/>
          </a:p>
          <a:p>
            <a:endParaRPr lang="en-US" dirty="0">
              <a:solidFill>
                <a:schemeClr val="accent4">
                  <a:lumMod val="50000"/>
                </a:schemeClr>
              </a:solidFill>
            </a:endParaRPr>
          </a:p>
        </p:txBody>
      </p:sp>
    </p:spTree>
    <p:extLst>
      <p:ext uri="{BB962C8B-B14F-4D97-AF65-F5344CB8AC3E}">
        <p14:creationId xmlns:p14="http://schemas.microsoft.com/office/powerpoint/2010/main" val="417290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5AB2D5-72C5-66EE-64EB-2EBF8CD3C759}"/>
              </a:ext>
            </a:extLst>
          </p:cNvPr>
          <p:cNvSpPr>
            <a:spLocks noGrp="1"/>
          </p:cNvSpPr>
          <p:nvPr>
            <p:ph type="dt" sz="half" idx="10"/>
          </p:nvPr>
        </p:nvSpPr>
        <p:spPr/>
        <p:txBody>
          <a:bodyPr/>
          <a:lstStyle/>
          <a:p>
            <a:fld id="{F0926A81-3A46-4B7B-A2F8-E2A558D9191F}" type="datetime1">
              <a:rPr lang="en-US" smtClean="0">
                <a:solidFill>
                  <a:prstClr val="black">
                    <a:tint val="75000"/>
                  </a:prstClr>
                </a:solidFill>
              </a:rPr>
              <a:pPr/>
              <a:t>4/1/2026</a:t>
            </a:fld>
            <a:endParaRPr lang="en-US" dirty="0">
              <a:solidFill>
                <a:prstClr val="black">
                  <a:tint val="75000"/>
                </a:prstClr>
              </a:solidFill>
            </a:endParaRPr>
          </a:p>
        </p:txBody>
      </p:sp>
      <p:sp>
        <p:nvSpPr>
          <p:cNvPr id="3" name="Slide Number Placeholder 2">
            <a:extLst>
              <a:ext uri="{FF2B5EF4-FFF2-40B4-BE49-F238E27FC236}">
                <a16:creationId xmlns:a16="http://schemas.microsoft.com/office/drawing/2014/main" id="{EA7B1CA8-904A-C85F-2EEF-09E47CFD6ACC}"/>
              </a:ext>
            </a:extLst>
          </p:cNvPr>
          <p:cNvSpPr>
            <a:spLocks noGrp="1"/>
          </p:cNvSpPr>
          <p:nvPr>
            <p:ph type="sldNum" sz="quarter" idx="12"/>
          </p:nvPr>
        </p:nvSpPr>
        <p:spPr/>
        <p:txBody>
          <a:bodyPr/>
          <a:lstStyle/>
          <a:p>
            <a:fld id="{B3561BA9-CDCF-4958-B8AB-66F3BF063E13}" type="slidenum">
              <a:rPr lang="en-US" smtClean="0">
                <a:solidFill>
                  <a:prstClr val="black">
                    <a:tint val="75000"/>
                  </a:prstClr>
                </a:solidFill>
              </a:rPr>
              <a:pPr/>
              <a:t>6</a:t>
            </a:fld>
            <a:endParaRPr lang="en-US" dirty="0">
              <a:solidFill>
                <a:prstClr val="black">
                  <a:tint val="75000"/>
                </a:prstClr>
              </a:solidFill>
            </a:endParaRPr>
          </a:p>
        </p:txBody>
      </p:sp>
      <p:sp>
        <p:nvSpPr>
          <p:cNvPr id="5" name="TextBox 4">
            <a:extLst>
              <a:ext uri="{FF2B5EF4-FFF2-40B4-BE49-F238E27FC236}">
                <a16:creationId xmlns:a16="http://schemas.microsoft.com/office/drawing/2014/main" id="{D63A7375-5557-2CA0-FC8B-27A65899D577}"/>
              </a:ext>
            </a:extLst>
          </p:cNvPr>
          <p:cNvSpPr txBox="1"/>
          <p:nvPr/>
        </p:nvSpPr>
        <p:spPr>
          <a:xfrm>
            <a:off x="2895600" y="609600"/>
            <a:ext cx="4572000" cy="369332"/>
          </a:xfrm>
          <a:prstGeom prst="rect">
            <a:avLst/>
          </a:prstGeom>
          <a:noFill/>
        </p:spPr>
        <p:txBody>
          <a:bodyPr wrap="square">
            <a:spAutoFit/>
          </a:bodyPr>
          <a:lstStyle/>
          <a:p>
            <a:r>
              <a:rPr lang="en-US" dirty="0"/>
              <a:t>Flowchart / architecture diagram</a:t>
            </a:r>
          </a:p>
        </p:txBody>
      </p:sp>
      <p:pic>
        <p:nvPicPr>
          <p:cNvPr id="10" name="Picture 9" descr="C:\Users\1108\AppData\Local\Microsoft\Windows\INetCache\Content.MSO\51EE9FCD.tmp">
            <a:extLst>
              <a:ext uri="{FF2B5EF4-FFF2-40B4-BE49-F238E27FC236}">
                <a16:creationId xmlns:a16="http://schemas.microsoft.com/office/drawing/2014/main" id="{E041731B-2337-4094-4E50-B89FC9161AA4}"/>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000" y="1428750"/>
            <a:ext cx="8382000" cy="4438650"/>
          </a:xfrm>
          <a:prstGeom prst="rect">
            <a:avLst/>
          </a:prstGeom>
          <a:noFill/>
          <a:ln>
            <a:noFill/>
          </a:ln>
        </p:spPr>
      </p:pic>
    </p:spTree>
    <p:extLst>
      <p:ext uri="{BB962C8B-B14F-4D97-AF65-F5344CB8AC3E}">
        <p14:creationId xmlns:p14="http://schemas.microsoft.com/office/powerpoint/2010/main" val="1402852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3EDA2C5-CE0B-8BED-AC2B-0EC24726BDF2}"/>
              </a:ext>
            </a:extLst>
          </p:cNvPr>
          <p:cNvSpPr txBox="1"/>
          <p:nvPr/>
        </p:nvSpPr>
        <p:spPr>
          <a:xfrm>
            <a:off x="838200" y="1143000"/>
            <a:ext cx="7315200" cy="3970318"/>
          </a:xfrm>
          <a:prstGeom prst="rect">
            <a:avLst/>
          </a:prstGeom>
          <a:noFill/>
        </p:spPr>
        <p:txBody>
          <a:bodyPr wrap="square">
            <a:spAutoFit/>
          </a:bodyPr>
          <a:lstStyle/>
          <a:p>
            <a:r>
              <a:rPr lang="fr-FR" b="1" dirty="0"/>
              <a:t>                                          Technologies </a:t>
            </a:r>
            <a:r>
              <a:rPr lang="fr-FR" b="1" dirty="0" err="1"/>
              <a:t>Used</a:t>
            </a:r>
            <a:endParaRPr lang="fr-FR" b="1" dirty="0"/>
          </a:p>
          <a:p>
            <a:endParaRPr lang="en-AU" b="1" dirty="0"/>
          </a:p>
          <a:p>
            <a:r>
              <a:rPr lang="en-AU" b="1" dirty="0"/>
              <a:t>Frontend:</a:t>
            </a:r>
            <a:r>
              <a:rPr lang="en-AU" dirty="0"/>
              <a:t> HTML, CSS, Bootstrap </a:t>
            </a:r>
          </a:p>
          <a:p>
            <a:endParaRPr lang="en-AU" dirty="0"/>
          </a:p>
          <a:p>
            <a:r>
              <a:rPr lang="en-AU" b="1" dirty="0"/>
              <a:t>Backend:</a:t>
            </a:r>
            <a:r>
              <a:rPr lang="en-AU" dirty="0"/>
              <a:t> Python (Flask) </a:t>
            </a:r>
          </a:p>
          <a:p>
            <a:endParaRPr lang="en-AU" dirty="0"/>
          </a:p>
          <a:p>
            <a:r>
              <a:rPr lang="en-AU" b="1" dirty="0"/>
              <a:t>Database:</a:t>
            </a:r>
            <a:r>
              <a:rPr lang="en-AU" dirty="0"/>
              <a:t> MySQL </a:t>
            </a:r>
          </a:p>
          <a:p>
            <a:endParaRPr lang="en-AU" dirty="0"/>
          </a:p>
          <a:p>
            <a:r>
              <a:rPr lang="en-AU" b="1" dirty="0"/>
              <a:t>Technologies:</a:t>
            </a:r>
            <a:r>
              <a:rPr lang="en-AU" dirty="0"/>
              <a:t> QR Code, Web Application </a:t>
            </a:r>
          </a:p>
          <a:p>
            <a:endParaRPr lang="en-AU" dirty="0"/>
          </a:p>
          <a:p>
            <a:r>
              <a:rPr lang="en-AU" b="1" dirty="0"/>
              <a:t>Tools:</a:t>
            </a:r>
            <a:r>
              <a:rPr lang="en-AU" dirty="0"/>
              <a:t> VS Code, XAMPP</a:t>
            </a:r>
          </a:p>
          <a:p>
            <a:endParaRPr lang="fr-FR" dirty="0"/>
          </a:p>
          <a:p>
            <a:endParaRPr lang="fr-FR" dirty="0"/>
          </a:p>
          <a:p>
            <a:pPr>
              <a:buFont typeface="Arial" panose="020B0604020202020204" pitchFamily="34" charset="0"/>
              <a:buChar char="•"/>
            </a:pPr>
            <a:endParaRPr lang="en-US" dirty="0">
              <a:solidFill>
                <a:schemeClr val="accent4">
                  <a:lumMod val="50000"/>
                </a:schemeClr>
              </a:solidFill>
            </a:endParaRPr>
          </a:p>
        </p:txBody>
      </p:sp>
    </p:spTree>
    <p:extLst>
      <p:ext uri="{BB962C8B-B14F-4D97-AF65-F5344CB8AC3E}">
        <p14:creationId xmlns:p14="http://schemas.microsoft.com/office/powerpoint/2010/main" val="21374310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55025B-2464-8545-B282-AAF4966CA197}"/>
              </a:ext>
            </a:extLst>
          </p:cNvPr>
          <p:cNvSpPr txBox="1"/>
          <p:nvPr/>
        </p:nvSpPr>
        <p:spPr>
          <a:xfrm>
            <a:off x="3505200" y="533400"/>
            <a:ext cx="1752600" cy="1200329"/>
          </a:xfrm>
          <a:prstGeom prst="rect">
            <a:avLst/>
          </a:prstGeom>
          <a:noFill/>
        </p:spPr>
        <p:txBody>
          <a:bodyPr wrap="square">
            <a:spAutoFit/>
          </a:bodyPr>
          <a:lstStyle/>
          <a:p>
            <a:r>
              <a:rPr lang="en-US" b="1" dirty="0"/>
              <a:t>Implementation</a:t>
            </a:r>
          </a:p>
          <a:p>
            <a:endParaRPr lang="en-US" b="1" dirty="0"/>
          </a:p>
          <a:p>
            <a:endParaRPr lang="en-US" dirty="0"/>
          </a:p>
          <a:p>
            <a:endParaRPr lang="en-US" dirty="0"/>
          </a:p>
        </p:txBody>
      </p:sp>
      <p:sp>
        <p:nvSpPr>
          <p:cNvPr id="2" name="Content Placeholder 2">
            <a:extLst>
              <a:ext uri="{FF2B5EF4-FFF2-40B4-BE49-F238E27FC236}">
                <a16:creationId xmlns:a16="http://schemas.microsoft.com/office/drawing/2014/main" id="{AB219946-CD97-8DA6-01DF-FB58272A5A1D}"/>
              </a:ext>
            </a:extLst>
          </p:cNvPr>
          <p:cNvSpPr txBox="1">
            <a:spLocks/>
          </p:cNvSpPr>
          <p:nvPr/>
        </p:nvSpPr>
        <p:spPr>
          <a:xfrm>
            <a:off x="76200" y="1066800"/>
            <a:ext cx="8991600" cy="5181600"/>
          </a:xfrm>
          <a:prstGeom prst="rect">
            <a:avLst/>
          </a:prstGeom>
        </p:spPr>
        <p:txBody>
          <a:bodyPr numCol="3" spcCol="36000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Font typeface="Arial" panose="020B0604020202020204" pitchFamily="34" charset="0"/>
              <a:buNone/>
            </a:pPr>
            <a:r>
              <a:rPr lang="en-IN" sz="1400" b="1" dirty="0">
                <a:latin typeface="Times New Roman" panose="02020603050405020304" pitchFamily="18" charset="0"/>
                <a:cs typeface="Times New Roman" panose="02020603050405020304" pitchFamily="18" charset="0"/>
              </a:rPr>
              <a:t>Modules:</a:t>
            </a:r>
          </a:p>
          <a:p>
            <a:pPr marL="0" indent="0">
              <a:buFont typeface="Arial" panose="020B0604020202020204" pitchFamily="34" charset="0"/>
              <a:buNone/>
            </a:pPr>
            <a:endParaRPr lang="en-IN"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Admin Module:</a:t>
            </a:r>
            <a:endParaRPr lang="en-IN" sz="1200" b="1" dirty="0">
              <a:latin typeface="Times New Roman" panose="02020603050405020304" pitchFamily="18" charset="0"/>
              <a:cs typeface="Times New Roman" panose="02020603050405020304" pitchFamily="18" charset="0"/>
            </a:endParaRPr>
          </a:p>
          <a:p>
            <a:r>
              <a:rPr lang="en-IN" sz="1200" dirty="0">
                <a:latin typeface="Times New Roman" panose="02020603050405020304" pitchFamily="18" charset="0"/>
                <a:cs typeface="Times New Roman" panose="02020603050405020304" pitchFamily="18" charset="0"/>
              </a:rPr>
              <a:t>Login: Admins can securely log in using authorized credentials to access system features.</a:t>
            </a:r>
          </a:p>
          <a:p>
            <a:r>
              <a:rPr lang="en-IN" sz="1200" dirty="0">
                <a:latin typeface="Times New Roman" panose="02020603050405020304" pitchFamily="18" charset="0"/>
                <a:cs typeface="Times New Roman" panose="02020603050405020304" pitchFamily="18" charset="0"/>
              </a:rPr>
              <a:t>Canteen Staff Management: Admins can add, view, update, or remove canteen staff from the system.</a:t>
            </a:r>
          </a:p>
          <a:p>
            <a:r>
              <a:rPr lang="en-IN" sz="1200" dirty="0">
                <a:latin typeface="Times New Roman" panose="02020603050405020304" pitchFamily="18" charset="0"/>
                <a:cs typeface="Times New Roman" panose="02020603050405020304" pitchFamily="18" charset="0"/>
              </a:rPr>
              <a:t>Dashboard Management:</a:t>
            </a:r>
            <a:br>
              <a:rPr lang="en-IN" sz="1200" dirty="0">
                <a:latin typeface="Times New Roman" panose="02020603050405020304" pitchFamily="18" charset="0"/>
                <a:cs typeface="Times New Roman" panose="02020603050405020304" pitchFamily="18" charset="0"/>
              </a:rPr>
            </a:br>
            <a:r>
              <a:rPr lang="en-IN" sz="1200" dirty="0">
                <a:latin typeface="Times New Roman" panose="02020603050405020304" pitchFamily="18" charset="0"/>
                <a:cs typeface="Times New Roman" panose="02020603050405020304" pitchFamily="18" charset="0"/>
              </a:rPr>
              <a:t>A graphical dashboard displays real-time statistics including:</a:t>
            </a:r>
          </a:p>
          <a:p>
            <a:r>
              <a:rPr lang="en-IN" sz="1200" dirty="0">
                <a:latin typeface="Times New Roman" panose="02020603050405020304" pitchFamily="18" charset="0"/>
                <a:cs typeface="Times New Roman" panose="02020603050405020304" pitchFamily="18" charset="0"/>
              </a:rPr>
              <a:t>Report Generation: Admins can download revenue and user data in Excel format for analysis and record-keeping.</a:t>
            </a:r>
          </a:p>
          <a:p>
            <a:r>
              <a:rPr lang="en-IN" sz="1200" dirty="0">
                <a:latin typeface="Times New Roman" panose="02020603050405020304" pitchFamily="18" charset="0"/>
                <a:cs typeface="Times New Roman" panose="02020603050405020304" pitchFamily="18" charset="0"/>
              </a:rPr>
              <a:t> Feedback Management: Admins can view feedback submitted by students for service   improvement.</a:t>
            </a:r>
          </a:p>
          <a:p>
            <a:r>
              <a:rPr lang="en-IN" sz="1200" dirty="0">
                <a:latin typeface="Times New Roman" panose="02020603050405020304" pitchFamily="18" charset="0"/>
                <a:cs typeface="Times New Roman" panose="02020603050405020304" pitchFamily="18" charset="0"/>
              </a:rPr>
              <a:t>Logout: Allows the administrator to safely exit the session.</a:t>
            </a: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1200"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Canteen Module:</a:t>
            </a:r>
            <a:endParaRPr lang="en-IN" sz="1200" b="1"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Login: Canteen staff can log in securely to manage daily operations.</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Order Management: Staff can view pending and confirmed orders on a dashboard and update order status after delivery.</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QR Code / Order ID Confirmation: Orders can be retrieved and confirmed quickly using QR code scanning or by entering the Order ID.</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Food Item Management: Staff can add, delete, or update available food items on the menu.</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Inventory Management: Staff can track stock levels and update item quantities in real time.</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Logout: Allows staff to log out securely after completing tasks.</a:t>
            </a:r>
            <a:endParaRPr lang="en-IN"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sz="1200" dirty="0">
              <a:latin typeface="Times New Roman" panose="02020603050405020304" pitchFamily="18" charset="0"/>
              <a:cs typeface="Times New Roman" panose="02020603050405020304" pitchFamily="18" charset="0"/>
            </a:endParaRPr>
          </a:p>
          <a:p>
            <a:endParaRPr lang="en-US" sz="1200" b="1" dirty="0">
              <a:latin typeface="Times New Roman" panose="02020603050405020304" pitchFamily="18" charset="0"/>
              <a:cs typeface="Times New Roman" panose="02020603050405020304" pitchFamily="18" charset="0"/>
            </a:endParaRPr>
          </a:p>
          <a:p>
            <a:r>
              <a:rPr lang="en-US" sz="1200" b="1" dirty="0">
                <a:latin typeface="Times New Roman" panose="02020603050405020304" pitchFamily="18" charset="0"/>
                <a:cs typeface="Times New Roman" panose="02020603050405020304" pitchFamily="18" charset="0"/>
              </a:rPr>
              <a:t>Student Module:</a:t>
            </a:r>
            <a:endParaRPr lang="en-IN" sz="1200" b="1"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Login: Students can securely log in to place orders and manage their accounts.</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Menu Browsing: Students can view the list of available food items with prices and descriptions.</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Order Placement: Students can add items to a cart, make payments, and receive an Order ID and a QR Code for order pickup.</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Order History: Students can track previous orders and payment statuses.</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Feedback Submission: Students can submit feedback to improve services.</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Profile Management: Students can manage their personal and contact information.</a:t>
            </a:r>
            <a:endParaRPr lang="en-IN"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Logout: Students can log out safely after using the system.</a:t>
            </a:r>
            <a:endParaRPr lang="en-IN" sz="1200" dirty="0">
              <a:latin typeface="Times New Roman" panose="02020603050405020304" pitchFamily="18" charset="0"/>
              <a:cs typeface="Times New Roman" panose="02020603050405020304" pitchFamily="18" charset="0"/>
            </a:endParaRPr>
          </a:p>
          <a:p>
            <a:pPr marL="0" indent="0">
              <a:buNone/>
            </a:pPr>
            <a:endParaRPr lang="en-IN"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6323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719035-AA1A-F7ED-0733-E87821799119}"/>
              </a:ext>
            </a:extLst>
          </p:cNvPr>
          <p:cNvSpPr txBox="1"/>
          <p:nvPr/>
        </p:nvSpPr>
        <p:spPr>
          <a:xfrm>
            <a:off x="3505200" y="609600"/>
            <a:ext cx="4572000" cy="923330"/>
          </a:xfrm>
          <a:prstGeom prst="rect">
            <a:avLst/>
          </a:prstGeom>
          <a:noFill/>
        </p:spPr>
        <p:txBody>
          <a:bodyPr wrap="square">
            <a:spAutoFit/>
          </a:bodyPr>
          <a:lstStyle/>
          <a:p>
            <a:r>
              <a:rPr lang="en-US" b="1" dirty="0"/>
              <a:t>Results &amp; Output</a:t>
            </a:r>
          </a:p>
          <a:p>
            <a:endParaRPr lang="en-US" dirty="0"/>
          </a:p>
          <a:p>
            <a:pPr>
              <a:buFont typeface="Arial" panose="020B0604020202020204" pitchFamily="34" charset="0"/>
              <a:buChar char="•"/>
            </a:pPr>
            <a:endParaRPr lang="en-US" dirty="0">
              <a:solidFill>
                <a:schemeClr val="accent4">
                  <a:lumMod val="50000"/>
                </a:schemeClr>
              </a:solidFill>
            </a:endParaRPr>
          </a:p>
        </p:txBody>
      </p:sp>
      <p:sp>
        <p:nvSpPr>
          <p:cNvPr id="4" name="TextBox 3">
            <a:extLst>
              <a:ext uri="{FF2B5EF4-FFF2-40B4-BE49-F238E27FC236}">
                <a16:creationId xmlns:a16="http://schemas.microsoft.com/office/drawing/2014/main" id="{ABFF91AA-FF5A-24AA-27A4-99FFABECC7DD}"/>
              </a:ext>
            </a:extLst>
          </p:cNvPr>
          <p:cNvSpPr txBox="1"/>
          <p:nvPr/>
        </p:nvSpPr>
        <p:spPr>
          <a:xfrm>
            <a:off x="609600" y="1034534"/>
            <a:ext cx="8153400" cy="1477328"/>
          </a:xfrm>
          <a:prstGeom prst="rect">
            <a:avLst/>
          </a:prstGeom>
          <a:noFill/>
        </p:spPr>
        <p:txBody>
          <a:bodyPr wrap="square">
            <a:spAutoFit/>
          </a:bodyPr>
          <a:lstStyle/>
          <a:p>
            <a:r>
              <a:rPr lang="en-AU" dirty="0"/>
              <a:t>Successfully implemented QR-based canteen ordering system </a:t>
            </a:r>
          </a:p>
          <a:p>
            <a:r>
              <a:rPr lang="en-AU" dirty="0"/>
              <a:t>Users can scan QR code, view menu, and place orders </a:t>
            </a:r>
            <a:endParaRPr lang="en-US" dirty="0"/>
          </a:p>
          <a:p>
            <a:r>
              <a:rPr lang="en-AU" dirty="0"/>
              <a:t>Orders are processed quickly with reduced waiting time </a:t>
            </a:r>
          </a:p>
          <a:p>
            <a:r>
              <a:rPr lang="en-AU" dirty="0"/>
              <a:t>System shows efficient performance and improved user experience </a:t>
            </a:r>
          </a:p>
          <a:p>
            <a:endParaRPr lang="en-AU" dirty="0"/>
          </a:p>
        </p:txBody>
      </p:sp>
      <p:pic>
        <p:nvPicPr>
          <p:cNvPr id="5" name="Picture 4">
            <a:extLst>
              <a:ext uri="{FF2B5EF4-FFF2-40B4-BE49-F238E27FC236}">
                <a16:creationId xmlns:a16="http://schemas.microsoft.com/office/drawing/2014/main" id="{525DD905-061E-A253-E0A8-B4DAC07F6C34}"/>
              </a:ext>
            </a:extLst>
          </p:cNvPr>
          <p:cNvPicPr/>
          <p:nvPr/>
        </p:nvPicPr>
        <p:blipFill>
          <a:blip r:embed="rId2">
            <a:extLst>
              <a:ext uri="{28A0092B-C50C-407E-A947-70E740481C1C}">
                <a14:useLocalDpi xmlns:a14="http://schemas.microsoft.com/office/drawing/2010/main" val="0"/>
              </a:ext>
            </a:extLst>
          </a:blip>
          <a:stretch>
            <a:fillRect/>
          </a:stretch>
        </p:blipFill>
        <p:spPr>
          <a:xfrm>
            <a:off x="1066800" y="2496622"/>
            <a:ext cx="6705600" cy="3426660"/>
          </a:xfrm>
          <a:prstGeom prst="rect">
            <a:avLst/>
          </a:prstGeom>
        </p:spPr>
      </p:pic>
    </p:spTree>
    <p:extLst>
      <p:ext uri="{BB962C8B-B14F-4D97-AF65-F5344CB8AC3E}">
        <p14:creationId xmlns:p14="http://schemas.microsoft.com/office/powerpoint/2010/main" val="1771965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2439BA-6CD7-5109-CA8A-F9498AEE7747}"/>
              </a:ext>
            </a:extLst>
          </p:cNvPr>
          <p:cNvSpPr>
            <a:spLocks noGrp="1"/>
          </p:cNvSpPr>
          <p:nvPr>
            <p:ph type="dt" sz="half" idx="10"/>
          </p:nvPr>
        </p:nvSpPr>
        <p:spPr/>
        <p:txBody>
          <a:bodyPr/>
          <a:lstStyle/>
          <a:p>
            <a:fld id="{F0926A81-3A46-4B7B-A2F8-E2A558D9191F}" type="datetime1">
              <a:rPr lang="en-US" smtClean="0">
                <a:solidFill>
                  <a:prstClr val="black">
                    <a:tint val="75000"/>
                  </a:prstClr>
                </a:solidFill>
              </a:rPr>
              <a:pPr/>
              <a:t>4/1/2026</a:t>
            </a:fld>
            <a:endParaRPr lang="en-US" dirty="0">
              <a:solidFill>
                <a:prstClr val="black">
                  <a:tint val="75000"/>
                </a:prstClr>
              </a:solidFill>
            </a:endParaRPr>
          </a:p>
        </p:txBody>
      </p:sp>
      <p:sp>
        <p:nvSpPr>
          <p:cNvPr id="3" name="Slide Number Placeholder 2">
            <a:extLst>
              <a:ext uri="{FF2B5EF4-FFF2-40B4-BE49-F238E27FC236}">
                <a16:creationId xmlns:a16="http://schemas.microsoft.com/office/drawing/2014/main" id="{CE10DDEC-BE11-14D3-3689-77782D07E9E9}"/>
              </a:ext>
            </a:extLst>
          </p:cNvPr>
          <p:cNvSpPr>
            <a:spLocks noGrp="1"/>
          </p:cNvSpPr>
          <p:nvPr>
            <p:ph type="sldNum" sz="quarter" idx="12"/>
          </p:nvPr>
        </p:nvSpPr>
        <p:spPr/>
        <p:txBody>
          <a:bodyPr/>
          <a:lstStyle/>
          <a:p>
            <a:fld id="{B3561BA9-CDCF-4958-B8AB-66F3BF063E13}" type="slidenum">
              <a:rPr lang="en-US" smtClean="0">
                <a:solidFill>
                  <a:prstClr val="black">
                    <a:tint val="75000"/>
                  </a:prstClr>
                </a:solidFill>
              </a:rPr>
              <a:pPr/>
              <a:t>10</a:t>
            </a:fld>
            <a:endParaRPr lang="en-US" dirty="0">
              <a:solidFill>
                <a:prstClr val="black">
                  <a:tint val="75000"/>
                </a:prstClr>
              </a:solidFill>
            </a:endParaRPr>
          </a:p>
        </p:txBody>
      </p:sp>
      <p:pic>
        <p:nvPicPr>
          <p:cNvPr id="5" name="Picture 4">
            <a:extLst>
              <a:ext uri="{FF2B5EF4-FFF2-40B4-BE49-F238E27FC236}">
                <a16:creationId xmlns:a16="http://schemas.microsoft.com/office/drawing/2014/main" id="{FFC1979A-F1B1-A4E8-9E68-36BBBC89A993}"/>
              </a:ext>
            </a:extLst>
          </p:cNvPr>
          <p:cNvPicPr/>
          <p:nvPr/>
        </p:nvPicPr>
        <p:blipFill>
          <a:blip r:embed="rId2">
            <a:extLst>
              <a:ext uri="{28A0092B-C50C-407E-A947-70E740481C1C}">
                <a14:useLocalDpi xmlns:a14="http://schemas.microsoft.com/office/drawing/2010/main" val="0"/>
              </a:ext>
            </a:extLst>
          </a:blip>
          <a:stretch>
            <a:fillRect/>
          </a:stretch>
        </p:blipFill>
        <p:spPr>
          <a:xfrm>
            <a:off x="1600200" y="381000"/>
            <a:ext cx="5943600" cy="2687955"/>
          </a:xfrm>
          <a:prstGeom prst="rect">
            <a:avLst/>
          </a:prstGeom>
        </p:spPr>
      </p:pic>
      <p:pic>
        <p:nvPicPr>
          <p:cNvPr id="6" name="Picture 5">
            <a:extLst>
              <a:ext uri="{FF2B5EF4-FFF2-40B4-BE49-F238E27FC236}">
                <a16:creationId xmlns:a16="http://schemas.microsoft.com/office/drawing/2014/main" id="{2D54866D-21A0-8DEA-4C56-C295D3F1ED7D}"/>
              </a:ext>
            </a:extLst>
          </p:cNvPr>
          <p:cNvPicPr/>
          <p:nvPr/>
        </p:nvPicPr>
        <p:blipFill>
          <a:blip r:embed="rId3">
            <a:extLst>
              <a:ext uri="{28A0092B-C50C-407E-A947-70E740481C1C}">
                <a14:useLocalDpi xmlns:a14="http://schemas.microsoft.com/office/drawing/2010/main" val="0"/>
              </a:ext>
            </a:extLst>
          </a:blip>
          <a:stretch>
            <a:fillRect/>
          </a:stretch>
        </p:blipFill>
        <p:spPr>
          <a:xfrm>
            <a:off x="1600200" y="3352800"/>
            <a:ext cx="5943600" cy="2684145"/>
          </a:xfrm>
          <a:prstGeom prst="rect">
            <a:avLst/>
          </a:prstGeom>
        </p:spPr>
      </p:pic>
    </p:spTree>
    <p:extLst>
      <p:ext uri="{BB962C8B-B14F-4D97-AF65-F5344CB8AC3E}">
        <p14:creationId xmlns:p14="http://schemas.microsoft.com/office/powerpoint/2010/main" val="329494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3EE3AC-F65C-D2DE-D8A2-9049CB5F3128}"/>
              </a:ext>
            </a:extLst>
          </p:cNvPr>
          <p:cNvSpPr>
            <a:spLocks noGrp="1"/>
          </p:cNvSpPr>
          <p:nvPr>
            <p:ph type="dt" sz="half" idx="10"/>
          </p:nvPr>
        </p:nvSpPr>
        <p:spPr/>
        <p:txBody>
          <a:bodyPr/>
          <a:lstStyle/>
          <a:p>
            <a:fld id="{F0926A81-3A46-4B7B-A2F8-E2A558D9191F}" type="datetime1">
              <a:rPr lang="en-US" smtClean="0">
                <a:solidFill>
                  <a:prstClr val="black">
                    <a:tint val="75000"/>
                  </a:prstClr>
                </a:solidFill>
              </a:rPr>
              <a:pPr/>
              <a:t>4/1/2026</a:t>
            </a:fld>
            <a:endParaRPr lang="en-US" dirty="0">
              <a:solidFill>
                <a:prstClr val="black">
                  <a:tint val="75000"/>
                </a:prstClr>
              </a:solidFill>
            </a:endParaRPr>
          </a:p>
        </p:txBody>
      </p:sp>
      <p:sp>
        <p:nvSpPr>
          <p:cNvPr id="3" name="Slide Number Placeholder 2">
            <a:extLst>
              <a:ext uri="{FF2B5EF4-FFF2-40B4-BE49-F238E27FC236}">
                <a16:creationId xmlns:a16="http://schemas.microsoft.com/office/drawing/2014/main" id="{5A4AA009-100B-2472-A0BD-D0C0FCAB4464}"/>
              </a:ext>
            </a:extLst>
          </p:cNvPr>
          <p:cNvSpPr>
            <a:spLocks noGrp="1"/>
          </p:cNvSpPr>
          <p:nvPr>
            <p:ph type="sldNum" sz="quarter" idx="12"/>
          </p:nvPr>
        </p:nvSpPr>
        <p:spPr/>
        <p:txBody>
          <a:bodyPr/>
          <a:lstStyle/>
          <a:p>
            <a:fld id="{B3561BA9-CDCF-4958-B8AB-66F3BF063E13}" type="slidenum">
              <a:rPr lang="en-US" smtClean="0">
                <a:solidFill>
                  <a:prstClr val="black">
                    <a:tint val="75000"/>
                  </a:prstClr>
                </a:solidFill>
              </a:rPr>
              <a:pPr/>
              <a:t>11</a:t>
            </a:fld>
            <a:endParaRPr lang="en-US" dirty="0">
              <a:solidFill>
                <a:prstClr val="black">
                  <a:tint val="75000"/>
                </a:prstClr>
              </a:solidFill>
            </a:endParaRPr>
          </a:p>
        </p:txBody>
      </p:sp>
      <p:pic>
        <p:nvPicPr>
          <p:cNvPr id="4" name="Picture 3">
            <a:extLst>
              <a:ext uri="{FF2B5EF4-FFF2-40B4-BE49-F238E27FC236}">
                <a16:creationId xmlns:a16="http://schemas.microsoft.com/office/drawing/2014/main" id="{DBE74998-AD3B-CD10-7B2F-952640E8A739}"/>
              </a:ext>
            </a:extLst>
          </p:cNvPr>
          <p:cNvPicPr/>
          <p:nvPr/>
        </p:nvPicPr>
        <p:blipFill>
          <a:blip r:embed="rId2">
            <a:extLst>
              <a:ext uri="{28A0092B-C50C-407E-A947-70E740481C1C}">
                <a14:useLocalDpi xmlns:a14="http://schemas.microsoft.com/office/drawing/2010/main" val="0"/>
              </a:ext>
            </a:extLst>
          </a:blip>
          <a:srcRect t="7904" r="3750"/>
          <a:stretch>
            <a:fillRect/>
          </a:stretch>
        </p:blipFill>
        <p:spPr>
          <a:xfrm>
            <a:off x="1638300" y="304800"/>
            <a:ext cx="5867400" cy="2667000"/>
          </a:xfrm>
          <a:prstGeom prst="rect">
            <a:avLst/>
          </a:prstGeom>
        </p:spPr>
      </p:pic>
      <p:pic>
        <p:nvPicPr>
          <p:cNvPr id="5" name="Picture 4">
            <a:extLst>
              <a:ext uri="{FF2B5EF4-FFF2-40B4-BE49-F238E27FC236}">
                <a16:creationId xmlns:a16="http://schemas.microsoft.com/office/drawing/2014/main" id="{99A75C9D-5004-DDF1-FB0E-0862BAF5CEC7}"/>
              </a:ext>
            </a:extLst>
          </p:cNvPr>
          <p:cNvPicPr/>
          <p:nvPr/>
        </p:nvPicPr>
        <p:blipFill>
          <a:blip r:embed="rId3">
            <a:extLst>
              <a:ext uri="{28A0092B-C50C-407E-A947-70E740481C1C}">
                <a14:useLocalDpi xmlns:a14="http://schemas.microsoft.com/office/drawing/2010/main" val="0"/>
              </a:ext>
            </a:extLst>
          </a:blip>
          <a:stretch>
            <a:fillRect/>
          </a:stretch>
        </p:blipFill>
        <p:spPr>
          <a:xfrm>
            <a:off x="1638300" y="3200400"/>
            <a:ext cx="5943600" cy="2745740"/>
          </a:xfrm>
          <a:prstGeom prst="rect">
            <a:avLst/>
          </a:prstGeom>
        </p:spPr>
      </p:pic>
    </p:spTree>
    <p:extLst>
      <p:ext uri="{BB962C8B-B14F-4D97-AF65-F5344CB8AC3E}">
        <p14:creationId xmlns:p14="http://schemas.microsoft.com/office/powerpoint/2010/main" val="11851898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90EB777-C95D-09BB-A60B-759358E1A1A9}"/>
              </a:ext>
            </a:extLst>
          </p:cNvPr>
          <p:cNvSpPr txBox="1"/>
          <p:nvPr/>
        </p:nvSpPr>
        <p:spPr>
          <a:xfrm>
            <a:off x="3505200" y="1143000"/>
            <a:ext cx="4572000" cy="646331"/>
          </a:xfrm>
          <a:prstGeom prst="rect">
            <a:avLst/>
          </a:prstGeom>
          <a:noFill/>
        </p:spPr>
        <p:txBody>
          <a:bodyPr wrap="square">
            <a:spAutoFit/>
          </a:bodyPr>
          <a:lstStyle/>
          <a:p>
            <a:r>
              <a:rPr lang="en-US" b="1" dirty="0"/>
              <a:t>Advantages</a:t>
            </a:r>
          </a:p>
          <a:p>
            <a:endParaRPr lang="en-US" dirty="0">
              <a:solidFill>
                <a:schemeClr val="accent4">
                  <a:lumMod val="50000"/>
                </a:schemeClr>
              </a:solidFill>
            </a:endParaRPr>
          </a:p>
        </p:txBody>
      </p:sp>
      <p:sp>
        <p:nvSpPr>
          <p:cNvPr id="2" name="Rectangle 1">
            <a:extLst>
              <a:ext uri="{FF2B5EF4-FFF2-40B4-BE49-F238E27FC236}">
                <a16:creationId xmlns:a16="http://schemas.microsoft.com/office/drawing/2014/main" id="{73EF1D34-D7FF-79F8-0F11-0A6A046812D9}"/>
              </a:ext>
            </a:extLst>
          </p:cNvPr>
          <p:cNvSpPr>
            <a:spLocks noChangeArrowheads="1"/>
          </p:cNvSpPr>
          <p:nvPr/>
        </p:nvSpPr>
        <p:spPr bwMode="auto">
          <a:xfrm>
            <a:off x="990600" y="1824891"/>
            <a:ext cx="78486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Reduces waiting time and avoids long queues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Provides fast and contactless ordering using QR code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Minimizes human errors in billing and order management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Improves efficiency with digital records and real-time </a:t>
            </a:r>
            <a:r>
              <a:rPr kumimoji="0" lang="en-US" altLang="en-US" sz="1800" b="0" i="0" u="none" strike="noStrike" cap="none" normalizeH="0" baseline="0" dirty="0" err="1">
                <a:ln>
                  <a:noFill/>
                </a:ln>
                <a:solidFill>
                  <a:schemeClr val="tx1"/>
                </a:solidFill>
                <a:effectLst/>
                <a:latin typeface="Arial" panose="020B0604020202020204" pitchFamily="34" charset="0"/>
              </a:rPr>
              <a:t>trackin</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672491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E9A0A5-691A-5292-4C01-562FBE60405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26E6990-866B-05A5-F7B9-3F701A2AB19E}"/>
              </a:ext>
            </a:extLst>
          </p:cNvPr>
          <p:cNvSpPr txBox="1"/>
          <p:nvPr/>
        </p:nvSpPr>
        <p:spPr>
          <a:xfrm>
            <a:off x="2286000" y="2831099"/>
            <a:ext cx="4572000" cy="369332"/>
          </a:xfrm>
          <a:prstGeom prst="rect">
            <a:avLst/>
          </a:prstGeom>
          <a:noFill/>
        </p:spPr>
        <p:txBody>
          <a:bodyPr wrap="square">
            <a:spAutoFit/>
          </a:bodyPr>
          <a:lstStyle/>
          <a:p>
            <a:r>
              <a:rPr lang="en-US" b="1" dirty="0">
                <a:solidFill>
                  <a:schemeClr val="accent4">
                    <a:lumMod val="50000"/>
                  </a:schemeClr>
                </a:solidFill>
              </a:rPr>
              <a:t> </a:t>
            </a:r>
          </a:p>
        </p:txBody>
      </p:sp>
      <p:sp>
        <p:nvSpPr>
          <p:cNvPr id="4" name="TextBox 3">
            <a:extLst>
              <a:ext uri="{FF2B5EF4-FFF2-40B4-BE49-F238E27FC236}">
                <a16:creationId xmlns:a16="http://schemas.microsoft.com/office/drawing/2014/main" id="{B7604F12-A2F0-2E1D-CBD0-44D429F88AB5}"/>
              </a:ext>
            </a:extLst>
          </p:cNvPr>
          <p:cNvSpPr txBox="1"/>
          <p:nvPr/>
        </p:nvSpPr>
        <p:spPr>
          <a:xfrm>
            <a:off x="3886200" y="990600"/>
            <a:ext cx="4572000" cy="369332"/>
          </a:xfrm>
          <a:prstGeom prst="rect">
            <a:avLst/>
          </a:prstGeom>
          <a:noFill/>
        </p:spPr>
        <p:txBody>
          <a:bodyPr wrap="square">
            <a:spAutoFit/>
          </a:bodyPr>
          <a:lstStyle/>
          <a:p>
            <a:r>
              <a:rPr lang="en-US" b="1" dirty="0"/>
              <a:t>Limitations</a:t>
            </a:r>
            <a:endParaRPr lang="en-AU" dirty="0"/>
          </a:p>
        </p:txBody>
      </p:sp>
      <p:sp>
        <p:nvSpPr>
          <p:cNvPr id="6" name="TextBox 5">
            <a:extLst>
              <a:ext uri="{FF2B5EF4-FFF2-40B4-BE49-F238E27FC236}">
                <a16:creationId xmlns:a16="http://schemas.microsoft.com/office/drawing/2014/main" id="{EF3F190E-0B28-A212-06A2-DB3193C7DDBB}"/>
              </a:ext>
            </a:extLst>
          </p:cNvPr>
          <p:cNvSpPr txBox="1"/>
          <p:nvPr/>
        </p:nvSpPr>
        <p:spPr>
          <a:xfrm>
            <a:off x="1143000" y="1905000"/>
            <a:ext cx="7162800" cy="2031325"/>
          </a:xfrm>
          <a:prstGeom prst="rect">
            <a:avLst/>
          </a:prstGeom>
          <a:noFill/>
        </p:spPr>
        <p:txBody>
          <a:bodyPr wrap="square">
            <a:spAutoFit/>
          </a:bodyPr>
          <a:lstStyle/>
          <a:p>
            <a:pPr>
              <a:buFont typeface="Arial" panose="020B0604020202020204" pitchFamily="34" charset="0"/>
              <a:buChar char="•"/>
            </a:pPr>
            <a:r>
              <a:rPr lang="en-US" dirty="0"/>
              <a:t>Requires internet connection for accessing the system </a:t>
            </a:r>
          </a:p>
          <a:p>
            <a:endParaRPr lang="en-US" dirty="0"/>
          </a:p>
          <a:p>
            <a:pPr>
              <a:buFont typeface="Arial" panose="020B0604020202020204" pitchFamily="34" charset="0"/>
              <a:buChar char="•"/>
            </a:pPr>
            <a:r>
              <a:rPr lang="en-US" dirty="0"/>
              <a:t>Users must have smartphones to scan QR codes </a:t>
            </a:r>
          </a:p>
          <a:p>
            <a:endParaRPr lang="en-US" dirty="0"/>
          </a:p>
          <a:p>
            <a:pPr>
              <a:buFont typeface="Arial" panose="020B0604020202020204" pitchFamily="34" charset="0"/>
              <a:buChar char="•"/>
            </a:pPr>
            <a:r>
              <a:rPr lang="en-US" dirty="0"/>
              <a:t>Initial setup cost for system development and maintenance</a:t>
            </a:r>
          </a:p>
          <a:p>
            <a:r>
              <a:rPr lang="en-US" dirty="0"/>
              <a:t> </a:t>
            </a:r>
          </a:p>
          <a:p>
            <a:pPr>
              <a:buFont typeface="Arial" panose="020B0604020202020204" pitchFamily="34" charset="0"/>
              <a:buChar char="•"/>
            </a:pPr>
            <a:r>
              <a:rPr lang="en-US" dirty="0"/>
              <a:t>Depends on server availability; downtime can affect service </a:t>
            </a:r>
          </a:p>
        </p:txBody>
      </p:sp>
    </p:spTree>
    <p:extLst>
      <p:ext uri="{BB962C8B-B14F-4D97-AF65-F5344CB8AC3E}">
        <p14:creationId xmlns:p14="http://schemas.microsoft.com/office/powerpoint/2010/main" val="4162821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2713FC4-F4FB-2F46-BA58-ED7CCAF9E611}"/>
              </a:ext>
            </a:extLst>
          </p:cNvPr>
          <p:cNvSpPr txBox="1"/>
          <p:nvPr/>
        </p:nvSpPr>
        <p:spPr>
          <a:xfrm>
            <a:off x="3505200" y="1069429"/>
            <a:ext cx="4572000" cy="646331"/>
          </a:xfrm>
          <a:prstGeom prst="rect">
            <a:avLst/>
          </a:prstGeom>
          <a:noFill/>
        </p:spPr>
        <p:txBody>
          <a:bodyPr wrap="square">
            <a:spAutoFit/>
          </a:bodyPr>
          <a:lstStyle/>
          <a:p>
            <a:r>
              <a:rPr lang="en-US" b="1" dirty="0"/>
              <a:t>Future Scope</a:t>
            </a:r>
          </a:p>
          <a:p>
            <a:endParaRPr lang="en-US" dirty="0">
              <a:solidFill>
                <a:schemeClr val="accent4">
                  <a:lumMod val="50000"/>
                </a:schemeClr>
              </a:solidFill>
            </a:endParaRPr>
          </a:p>
        </p:txBody>
      </p:sp>
      <p:sp>
        <p:nvSpPr>
          <p:cNvPr id="3" name="TextBox 2">
            <a:extLst>
              <a:ext uri="{FF2B5EF4-FFF2-40B4-BE49-F238E27FC236}">
                <a16:creationId xmlns:a16="http://schemas.microsoft.com/office/drawing/2014/main" id="{6DF2121E-64CA-1775-F706-04976CCA1AE7}"/>
              </a:ext>
            </a:extLst>
          </p:cNvPr>
          <p:cNvSpPr txBox="1"/>
          <p:nvPr/>
        </p:nvSpPr>
        <p:spPr>
          <a:xfrm>
            <a:off x="381000" y="1720840"/>
            <a:ext cx="8458200" cy="3416320"/>
          </a:xfrm>
          <a:prstGeom prst="rect">
            <a:avLst/>
          </a:prstGeom>
          <a:noFill/>
        </p:spPr>
        <p:txBody>
          <a:bodyPr wrap="square">
            <a:spAutoFit/>
          </a:bodyPr>
          <a:lstStyle/>
          <a:p>
            <a:pPr>
              <a:buNone/>
            </a:pPr>
            <a:r>
              <a:rPr lang="en-US" dirty="0"/>
              <a:t>The system can be enhanced by integrating online payment gateways for secure transactions.</a:t>
            </a:r>
          </a:p>
          <a:p>
            <a:pPr>
              <a:buNone/>
            </a:pPr>
            <a:br>
              <a:rPr lang="en-US" dirty="0"/>
            </a:br>
            <a:r>
              <a:rPr lang="en-US" dirty="0"/>
              <a:t>A mobile application can be developed for better user experience and accessibility.</a:t>
            </a:r>
          </a:p>
          <a:p>
            <a:pPr>
              <a:buNone/>
            </a:pPr>
            <a:br>
              <a:rPr lang="en-US" dirty="0"/>
            </a:br>
            <a:r>
              <a:rPr lang="en-US" dirty="0"/>
              <a:t>AI-based recommendations can be added to suggest popular or personalized food items.</a:t>
            </a:r>
          </a:p>
          <a:p>
            <a:pPr>
              <a:buNone/>
            </a:pPr>
            <a:br>
              <a:rPr lang="en-US" dirty="0"/>
            </a:br>
            <a:r>
              <a:rPr lang="en-US" dirty="0"/>
              <a:t>Real-time notifications can be implemented to update order status instantly.</a:t>
            </a:r>
          </a:p>
          <a:p>
            <a:pPr>
              <a:buNone/>
            </a:pPr>
            <a:br>
              <a:rPr lang="en-US" dirty="0"/>
            </a:br>
            <a:r>
              <a:rPr lang="en-US" dirty="0"/>
              <a:t>The system can be expanded to support multiple canteens or food courts.</a:t>
            </a:r>
          </a:p>
          <a:p>
            <a:pPr>
              <a:buNone/>
            </a:pPr>
            <a:br>
              <a:rPr lang="en-US" dirty="0"/>
            </a:br>
            <a:r>
              <a:rPr lang="en-US" dirty="0"/>
              <a:t>Advanced analytics can be included to track sales and user preferences.</a:t>
            </a:r>
          </a:p>
        </p:txBody>
      </p:sp>
    </p:spTree>
    <p:extLst>
      <p:ext uri="{BB962C8B-B14F-4D97-AF65-F5344CB8AC3E}">
        <p14:creationId xmlns:p14="http://schemas.microsoft.com/office/powerpoint/2010/main" val="42684468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7489EA3-2A2B-3E10-833E-B37D449AF3EB}"/>
              </a:ext>
            </a:extLst>
          </p:cNvPr>
          <p:cNvSpPr txBox="1"/>
          <p:nvPr/>
        </p:nvSpPr>
        <p:spPr>
          <a:xfrm>
            <a:off x="3733800" y="990600"/>
            <a:ext cx="4572000" cy="646331"/>
          </a:xfrm>
          <a:prstGeom prst="rect">
            <a:avLst/>
          </a:prstGeom>
          <a:noFill/>
        </p:spPr>
        <p:txBody>
          <a:bodyPr wrap="square">
            <a:spAutoFit/>
          </a:bodyPr>
          <a:lstStyle/>
          <a:p>
            <a:r>
              <a:rPr lang="en-US" b="1" dirty="0"/>
              <a:t>Conclusion</a:t>
            </a:r>
          </a:p>
          <a:p>
            <a:endParaRPr lang="en-US" dirty="0">
              <a:solidFill>
                <a:schemeClr val="accent4">
                  <a:lumMod val="50000"/>
                </a:schemeClr>
              </a:solidFill>
            </a:endParaRPr>
          </a:p>
        </p:txBody>
      </p:sp>
      <p:sp>
        <p:nvSpPr>
          <p:cNvPr id="3" name="TextBox 2">
            <a:extLst>
              <a:ext uri="{FF2B5EF4-FFF2-40B4-BE49-F238E27FC236}">
                <a16:creationId xmlns:a16="http://schemas.microsoft.com/office/drawing/2014/main" id="{27B43CBF-847D-D434-2C7B-ECE059ACD030}"/>
              </a:ext>
            </a:extLst>
          </p:cNvPr>
          <p:cNvSpPr txBox="1"/>
          <p:nvPr/>
        </p:nvSpPr>
        <p:spPr>
          <a:xfrm>
            <a:off x="304800" y="1690062"/>
            <a:ext cx="8610600" cy="3477875"/>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In conclusion, the QR-Based College Canteen Web Application provides an innovative, efficient, and contactless solution to streamline food ordering and management within educational institutions. By integrating modules for students, canteen staff, and administrators, the system ensures transparency, real-time updates, and ease of use across all user levels. The use of technologies like QR code scanning, Django backend, and a responsive frontend enhances the overall experience, reduces manual errors, and supports a digital-first approach. With the potential for future enhancements such as mobile apps, AI-driven recommendations, and payment gateway integration, this platform can evolve into a comprehensive smart canteen ecosystem that meets the growing demands of modern campus life</a:t>
            </a:r>
            <a:endParaRPr lang="en-AU" sz="2000" dirty="0"/>
          </a:p>
        </p:txBody>
      </p:sp>
    </p:spTree>
    <p:extLst>
      <p:ext uri="{BB962C8B-B14F-4D97-AF65-F5344CB8AC3E}">
        <p14:creationId xmlns:p14="http://schemas.microsoft.com/office/powerpoint/2010/main" val="3095858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B13040-EF3E-6726-8197-12F4582DBBC0}"/>
              </a:ext>
            </a:extLst>
          </p:cNvPr>
          <p:cNvSpPr txBox="1"/>
          <p:nvPr/>
        </p:nvSpPr>
        <p:spPr>
          <a:xfrm>
            <a:off x="2819400" y="3013501"/>
            <a:ext cx="4572000" cy="830997"/>
          </a:xfrm>
          <a:prstGeom prst="rect">
            <a:avLst/>
          </a:prstGeom>
          <a:noFill/>
        </p:spPr>
        <p:txBody>
          <a:bodyPr wrap="square">
            <a:spAutoFit/>
          </a:bodyPr>
          <a:lstStyle/>
          <a:p>
            <a:r>
              <a:rPr lang="en-US" sz="4800" b="1" dirty="0">
                <a:solidFill>
                  <a:srgbClr val="FF0000"/>
                </a:solidFill>
              </a:rPr>
              <a:t>THANK YOU</a:t>
            </a:r>
            <a:endParaRPr lang="en-AU" sz="4800" b="1" dirty="0">
              <a:solidFill>
                <a:srgbClr val="FF0000"/>
              </a:solidFill>
            </a:endParaRPr>
          </a:p>
        </p:txBody>
      </p:sp>
    </p:spTree>
    <p:extLst>
      <p:ext uri="{BB962C8B-B14F-4D97-AF65-F5344CB8AC3E}">
        <p14:creationId xmlns:p14="http://schemas.microsoft.com/office/powerpoint/2010/main" val="3479879437"/>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1915</TotalTime>
  <Words>1029</Words>
  <Application>Microsoft Office PowerPoint</Application>
  <PresentationFormat>On-screen Show (4:3)</PresentationFormat>
  <Paragraphs>125</Paragraphs>
  <Slides>16</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Windows User</dc:creator>
  <cp:lastModifiedBy>ROHITH REDDY</cp:lastModifiedBy>
  <cp:revision>155</cp:revision>
  <dcterms:created xsi:type="dcterms:W3CDTF">2023-01-22T02:22:32Z</dcterms:created>
  <dcterms:modified xsi:type="dcterms:W3CDTF">2026-04-01T06:08:33Z</dcterms:modified>
</cp:coreProperties>
</file>