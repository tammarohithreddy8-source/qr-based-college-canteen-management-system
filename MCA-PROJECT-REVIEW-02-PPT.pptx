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4"/>
  </p:notesMasterIdLst>
  <p:handoutMasterIdLst>
    <p:handoutMasterId r:id="rId15"/>
  </p:handoutMasterIdLst>
  <p:sldIdLst>
    <p:sldId id="271" r:id="rId2"/>
    <p:sldId id="306" r:id="rId3"/>
    <p:sldId id="305" r:id="rId4"/>
    <p:sldId id="308" r:id="rId5"/>
    <p:sldId id="309" r:id="rId6"/>
    <p:sldId id="314" r:id="rId7"/>
    <p:sldId id="315" r:id="rId8"/>
    <p:sldId id="310" r:id="rId9"/>
    <p:sldId id="311" r:id="rId10"/>
    <p:sldId id="312" r:id="rId11"/>
    <p:sldId id="313" r:id="rId12"/>
    <p:sldId id="316"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5F96779-8682-4CD9-90C2-D7A49281830D}">
          <p14:sldIdLst>
            <p14:sldId id="271"/>
            <p14:sldId id="306"/>
            <p14:sldId id="305"/>
            <p14:sldId id="308"/>
            <p14:sldId id="309"/>
            <p14:sldId id="314"/>
            <p14:sldId id="315"/>
            <p14:sldId id="310"/>
            <p14:sldId id="311"/>
            <p14:sldId id="312"/>
            <p14:sldId id="313"/>
            <p14:sldId id="316"/>
          </p14:sldIdLst>
        </p14:section>
        <p14:section name="Untitled Section" id="{18D748A1-B9CB-40AB-9130-D732C7E4D7E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0DD8ACB-2480-836F-8513-F809A1C233EF}" name="Abraham Dinakaran J" initials="ADJ" userId="S::adinakaran@kluniversity.in::a265c4b0-0b4d-41cc-8169-c05df22ffe7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60A6ED-D754-3A90-DAF7-70FD5B2425F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91D1BF4-1F04-3875-1E59-B801C90A59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62FC287-3538-4997-9970-44BF1FF30DD5}" type="datetime1">
              <a:rPr lang="en-IN" smtClean="0"/>
              <a:t>17-02-2026</a:t>
            </a:fld>
            <a:endParaRPr lang="en-US"/>
          </a:p>
        </p:txBody>
      </p:sp>
      <p:sp>
        <p:nvSpPr>
          <p:cNvPr id="4" name="Footer Placeholder 3">
            <a:extLst>
              <a:ext uri="{FF2B5EF4-FFF2-40B4-BE49-F238E27FC236}">
                <a16:creationId xmlns:a16="http://schemas.microsoft.com/office/drawing/2014/main" id="{520EF107-E196-D5EA-171E-D24D64E6F4F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21B73E3-5749-B011-7B11-AC373483079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1FDA32-7B86-4AE0-9240-7E2DEEC04CE4}" type="slidenum">
              <a:rPr lang="en-US" smtClean="0"/>
              <a:t>‹#›</a:t>
            </a:fld>
            <a:endParaRPr lang="en-US"/>
          </a:p>
        </p:txBody>
      </p:sp>
    </p:spTree>
    <p:extLst>
      <p:ext uri="{BB962C8B-B14F-4D97-AF65-F5344CB8AC3E}">
        <p14:creationId xmlns:p14="http://schemas.microsoft.com/office/powerpoint/2010/main" val="3946431501"/>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01657D-0517-4C9F-B58C-7229AAFEBC31}" type="datetime1">
              <a:rPr lang="en-IN" smtClean="0"/>
              <a:t>17-02-2026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A71A4B-7F78-4497-A7BB-B19313066BC2}" type="slidenum">
              <a:rPr lang="en-IN" smtClean="0"/>
              <a:t>‹#›</a:t>
            </a:fld>
            <a:endParaRPr lang="en-IN"/>
          </a:p>
        </p:txBody>
      </p:sp>
    </p:spTree>
    <p:extLst>
      <p:ext uri="{BB962C8B-B14F-4D97-AF65-F5344CB8AC3E}">
        <p14:creationId xmlns:p14="http://schemas.microsoft.com/office/powerpoint/2010/main" val="2959752881"/>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76321978-3473-EC9A-5F36-618E485DBE5F}"/>
              </a:ext>
            </a:extLst>
          </p:cNvPr>
          <p:cNvSpPr>
            <a:spLocks noGrp="1"/>
          </p:cNvSpPr>
          <p:nvPr>
            <p:ph type="dt" idx="1"/>
          </p:nvPr>
        </p:nvSpPr>
        <p:spPr/>
        <p:txBody>
          <a:bodyPr/>
          <a:lstStyle/>
          <a:p>
            <a:fld id="{3E581EE8-6511-46D3-8A2A-80CFF2C8D0A3}" type="datetime1">
              <a:rPr lang="en-IN" smtClean="0"/>
              <a:t>17-02-2026</a:t>
            </a:fld>
            <a:endParaRPr lang="en-IN"/>
          </a:p>
        </p:txBody>
      </p:sp>
    </p:spTree>
    <p:extLst>
      <p:ext uri="{BB962C8B-B14F-4D97-AF65-F5344CB8AC3E}">
        <p14:creationId xmlns:p14="http://schemas.microsoft.com/office/powerpoint/2010/main" val="2424430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a:xfrm>
            <a:off x="990600" y="6526385"/>
            <a:ext cx="1200150" cy="266702"/>
          </a:xfrm>
          <a:prstGeom prst="rect">
            <a:avLst/>
          </a:prstGeom>
        </p:spPr>
        <p:txBody>
          <a:bodyPr/>
          <a:lstStyle>
            <a:lvl1pPr>
              <a:defRPr sz="900"/>
            </a:lvl1pPr>
          </a:lstStyle>
          <a:p>
            <a:fld id="{8453BCF2-CB48-4BA2-A036-8950CD1C6A93}" type="datetime1">
              <a:rPr lang="en-US" smtClean="0">
                <a:solidFill>
                  <a:prstClr val="black">
                    <a:tint val="75000"/>
                  </a:prstClr>
                </a:solidFill>
              </a:rPr>
              <a:pPr/>
              <a:t>2/17/2026</a:t>
            </a:fld>
            <a:endParaRPr lang="en-US" dirty="0">
              <a:solidFill>
                <a:prstClr val="black">
                  <a:tint val="75000"/>
                </a:prstClr>
              </a:solidFill>
            </a:endParaRPr>
          </a:p>
        </p:txBody>
      </p:sp>
      <p:sp>
        <p:nvSpPr>
          <p:cNvPr id="5" name="Footer Placeholder 4"/>
          <p:cNvSpPr>
            <a:spLocks noGrp="1"/>
          </p:cNvSpPr>
          <p:nvPr>
            <p:ph type="ftr" sz="quarter" idx="11"/>
          </p:nvPr>
        </p:nvSpPr>
        <p:spPr>
          <a:xfrm>
            <a:off x="5943600" y="6427961"/>
            <a:ext cx="30861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4191000" y="6535592"/>
            <a:ext cx="457200" cy="266701"/>
          </a:xfrm>
          <a:prstGeom prst="rect">
            <a:avLst/>
          </a:prstGeom>
        </p:spPr>
        <p:txBody>
          <a:bodyPr/>
          <a:lstStyle>
            <a:lvl1pPr>
              <a:defRPr sz="900"/>
            </a:lvl1pPr>
          </a:lstStyle>
          <a:p>
            <a:fld id="{B3561BA9-CDCF-4958-B8AB-66F3BF063E1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93328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28650" y="6492875"/>
            <a:ext cx="1123950" cy="267280"/>
          </a:xfrm>
          <a:prstGeom prst="rect">
            <a:avLst/>
          </a:prstGeom>
        </p:spPr>
        <p:txBody>
          <a:bodyPr/>
          <a:lstStyle>
            <a:lvl1pPr>
              <a:defRPr sz="900"/>
            </a:lvl1pPr>
          </a:lstStyle>
          <a:p>
            <a:fld id="{F0926A81-3A46-4B7B-A2F8-E2A558D9191F}" type="datetime1">
              <a:rPr lang="en-US" smtClean="0">
                <a:solidFill>
                  <a:prstClr val="black">
                    <a:tint val="75000"/>
                  </a:prstClr>
                </a:solidFill>
              </a:rPr>
              <a:pPr/>
              <a:t>2/17/2026</a:t>
            </a:fld>
            <a:endParaRPr lang="en-US" dirty="0">
              <a:solidFill>
                <a:prstClr val="black">
                  <a:tint val="75000"/>
                </a:prstClr>
              </a:solidFill>
            </a:endParaRPr>
          </a:p>
        </p:txBody>
      </p:sp>
      <p:sp>
        <p:nvSpPr>
          <p:cNvPr id="6" name="Slide Number Placeholder 5"/>
          <p:cNvSpPr>
            <a:spLocks noGrp="1"/>
          </p:cNvSpPr>
          <p:nvPr>
            <p:ph type="sldNum" sz="quarter" idx="12"/>
          </p:nvPr>
        </p:nvSpPr>
        <p:spPr>
          <a:xfrm>
            <a:off x="3962400" y="6492875"/>
            <a:ext cx="2057400" cy="365125"/>
          </a:xfrm>
          <a:prstGeom prst="rect">
            <a:avLst/>
          </a:prstGeom>
        </p:spPr>
        <p:txBody>
          <a:bodyPr/>
          <a:lstStyle>
            <a:lvl1pPr>
              <a:defRPr sz="900"/>
            </a:lvl1pPr>
          </a:lstStyle>
          <a:p>
            <a:fld id="{B3561BA9-CDCF-4958-B8AB-66F3BF063E1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055454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7497C174-5A51-4D18-8F67-D9F14D2F34C3}" type="datetime1">
              <a:rPr lang="en-US" smtClean="0">
                <a:solidFill>
                  <a:prstClr val="black">
                    <a:tint val="75000"/>
                  </a:prstClr>
                </a:solidFill>
              </a:rPr>
              <a:t>2/17/2026</a:t>
            </a:fld>
            <a:endParaRPr lang="en-US">
              <a:solidFill>
                <a:prstClr val="black">
                  <a:tint val="75000"/>
                </a:prstClr>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011384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1CE59E2F-5892-435A-AE19-CDF7821064E4}" type="datetime1">
              <a:rPr lang="en-US" smtClean="0">
                <a:solidFill>
                  <a:prstClr val="black">
                    <a:tint val="75000"/>
                  </a:prstClr>
                </a:solidFill>
              </a:rPr>
              <a:t>2/17/2026</a:t>
            </a:fld>
            <a:endParaRPr lang="en-US">
              <a:solidFill>
                <a:prstClr val="black">
                  <a:tint val="75000"/>
                </a:prstClr>
              </a:solidFill>
            </a:endParaRP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01469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BEFAB2A4-D3CE-4715-B935-416579E77195}" type="datetime1">
              <a:rPr lang="en-US" smtClean="0">
                <a:solidFill>
                  <a:prstClr val="black">
                    <a:tint val="75000"/>
                  </a:prstClr>
                </a:solidFill>
              </a:rPr>
              <a:t>2/17/2026</a:t>
            </a:fld>
            <a:endParaRPr lang="en-US">
              <a:solidFill>
                <a:prstClr val="black">
                  <a:tint val="75000"/>
                </a:prstClr>
              </a:solidFill>
            </a:endParaRPr>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68903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AB65A450-9487-4E64-AB52-9E7DA1C37762}" type="datetime1">
              <a:rPr lang="en-US" smtClean="0">
                <a:solidFill>
                  <a:prstClr val="black">
                    <a:tint val="75000"/>
                  </a:prstClr>
                </a:solidFill>
              </a:rPr>
              <a:t>2/17/2026</a:t>
            </a:fld>
            <a:endParaRPr lang="en-US">
              <a:solidFill>
                <a:prstClr val="black">
                  <a:tint val="75000"/>
                </a:prstClr>
              </a:solidFill>
            </a:endParaRPr>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69966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6C014150-8307-4D3C-BBBB-0734CBD939B0}" type="datetime1">
              <a:rPr lang="en-US" smtClean="0">
                <a:solidFill>
                  <a:prstClr val="black">
                    <a:tint val="75000"/>
                  </a:prstClr>
                </a:solidFill>
              </a:rPr>
              <a:t>2/17/2026</a:t>
            </a:fld>
            <a:endParaRPr lang="en-US">
              <a:solidFill>
                <a:prstClr val="black">
                  <a:tint val="75000"/>
                </a:prstClr>
              </a:solidFill>
            </a:endParaRPr>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36518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7D880DA0-68D9-4E75-BA39-DC1403DEB0D4}" type="datetime1">
              <a:rPr lang="en-US" smtClean="0">
                <a:solidFill>
                  <a:prstClr val="black">
                    <a:tint val="75000"/>
                  </a:prstClr>
                </a:solidFill>
              </a:rPr>
              <a:t>2/17/2026</a:t>
            </a:fld>
            <a:endParaRPr lang="en-US">
              <a:solidFill>
                <a:prstClr val="black">
                  <a:tint val="75000"/>
                </a:prstClr>
              </a:solidFill>
            </a:endParaRP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02672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4B4E1A77-28DA-48C1-B06D-78B5B0A2C0A2}" type="datetime1">
              <a:rPr lang="en-US" smtClean="0">
                <a:solidFill>
                  <a:prstClr val="black">
                    <a:tint val="75000"/>
                  </a:prstClr>
                </a:solidFill>
              </a:rPr>
              <a:t>2/17/2026</a:t>
            </a:fld>
            <a:endParaRPr lang="en-US">
              <a:solidFill>
                <a:prstClr val="black">
                  <a:tint val="75000"/>
                </a:prstClr>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89187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28650" y="365125"/>
            <a:ext cx="78867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296EF5A3-7886-44C2-92BF-298F6F904133}" type="datetime1">
              <a:rPr lang="en-US" smtClean="0">
                <a:solidFill>
                  <a:prstClr val="black">
                    <a:tint val="75000"/>
                  </a:prstClr>
                </a:solidFill>
              </a:rPr>
              <a:t>2/17/2026</a:t>
            </a:fld>
            <a:endParaRPr lang="en-US">
              <a:solidFill>
                <a:prstClr val="black">
                  <a:tint val="75000"/>
                </a:prstClr>
              </a:solidFill>
            </a:endParaRPr>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51692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userDrawn="1">
  <p:cSld name="1_Title and Content">
    <p:spTree>
      <p:nvGrpSpPr>
        <p:cNvPr id="1" name="Shape 48"/>
        <p:cNvGrpSpPr/>
        <p:nvPr/>
      </p:nvGrpSpPr>
      <p:grpSpPr>
        <a:xfrm>
          <a:off x="0" y="0"/>
          <a:ext cx="0" cy="0"/>
          <a:chOff x="0" y="0"/>
          <a:chExt cx="0" cy="0"/>
        </a:xfrm>
      </p:grpSpPr>
    </p:spTree>
    <p:extLst>
      <p:ext uri="{BB962C8B-B14F-4D97-AF65-F5344CB8AC3E}">
        <p14:creationId xmlns:p14="http://schemas.microsoft.com/office/powerpoint/2010/main" val="2761484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AD2B12-09F5-6D4A-9C1D-AFF6A38F62BF}"/>
              </a:ext>
            </a:extLst>
          </p:cNvPr>
          <p:cNvSpPr/>
          <p:nvPr userDrawn="1"/>
        </p:nvSpPr>
        <p:spPr>
          <a:xfrm>
            <a:off x="0" y="6812282"/>
            <a:ext cx="9144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1"/>
            <a:ext cx="9144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3">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4419600" y="3179470"/>
            <a:ext cx="4648200" cy="3588778"/>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1599051" cy="184666"/>
          </a:xfrm>
          <a:prstGeom prst="rect">
            <a:avLst/>
          </a:prstGeom>
          <a:noFill/>
        </p:spPr>
        <p:txBody>
          <a:bodyPr wrap="square" rtlCol="0">
            <a:spAutoFit/>
          </a:bodyPr>
          <a:lstStyle/>
          <a:p>
            <a:r>
              <a:rPr lang="en-US" sz="600">
                <a:solidFill>
                  <a:schemeClr val="bg1">
                    <a:lumMod val="95000"/>
                  </a:schemeClr>
                </a:solidFill>
              </a:rPr>
              <a:t>CREATED BY K. VICTOR BABU</a:t>
            </a:r>
          </a:p>
        </p:txBody>
      </p:sp>
      <p:pic>
        <p:nvPicPr>
          <p:cNvPr id="4" name="Picture 3">
            <a:extLst>
              <a:ext uri="{FF2B5EF4-FFF2-40B4-BE49-F238E27FC236}">
                <a16:creationId xmlns:a16="http://schemas.microsoft.com/office/drawing/2014/main" id="{4D69AF5A-AC2F-36ED-506D-7C37D0453E6E}"/>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6200" y="45720"/>
            <a:ext cx="838201" cy="792479"/>
          </a:xfrm>
          <a:prstGeom prst="rect">
            <a:avLst/>
          </a:prstGeom>
        </p:spPr>
      </p:pic>
      <p:pic>
        <p:nvPicPr>
          <p:cNvPr id="13" name="Picture 12">
            <a:extLst>
              <a:ext uri="{FF2B5EF4-FFF2-40B4-BE49-F238E27FC236}">
                <a16:creationId xmlns:a16="http://schemas.microsoft.com/office/drawing/2014/main" id="{1E27DCBA-940B-49AA-1A04-53135CCC5394}"/>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6710196" y="6400799"/>
            <a:ext cx="2331280" cy="343587"/>
          </a:xfrm>
          <a:prstGeom prst="rect">
            <a:avLst/>
          </a:prstGeom>
        </p:spPr>
      </p:pic>
      <p:pic>
        <p:nvPicPr>
          <p:cNvPr id="16" name="Picture 15">
            <a:extLst>
              <a:ext uri="{FF2B5EF4-FFF2-40B4-BE49-F238E27FC236}">
                <a16:creationId xmlns:a16="http://schemas.microsoft.com/office/drawing/2014/main" id="{523D559A-CBC2-B8F4-6F19-4FADD0B35569}"/>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227828" y="228600"/>
            <a:ext cx="458972" cy="456364"/>
          </a:xfrm>
          <a:prstGeom prst="rect">
            <a:avLst/>
          </a:prstGeom>
        </p:spPr>
      </p:pic>
    </p:spTree>
    <p:extLst>
      <p:ext uri="{BB962C8B-B14F-4D97-AF65-F5344CB8AC3E}">
        <p14:creationId xmlns:p14="http://schemas.microsoft.com/office/powerpoint/2010/main" val="837032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1.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B9F0C376-F4D3-1950-3474-EFF28411BDC6}"/>
              </a:ext>
            </a:extLst>
          </p:cNvPr>
          <p:cNvSpPr/>
          <p:nvPr/>
        </p:nvSpPr>
        <p:spPr>
          <a:xfrm>
            <a:off x="3124200" y="1115413"/>
            <a:ext cx="3364748" cy="431074"/>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a:endParaRPr>
          </a:p>
        </p:txBody>
      </p:sp>
      <p:sp>
        <p:nvSpPr>
          <p:cNvPr id="475" name="Google Shape;475;p16"/>
          <p:cNvSpPr txBox="1"/>
          <p:nvPr/>
        </p:nvSpPr>
        <p:spPr>
          <a:xfrm>
            <a:off x="2492519" y="1051115"/>
            <a:ext cx="4382085" cy="530884"/>
          </a:xfrm>
          <a:prstGeom prst="rect">
            <a:avLst/>
          </a:prstGeom>
          <a:noFill/>
          <a:ln>
            <a:noFill/>
          </a:ln>
          <a:effectLst/>
        </p:spPr>
        <p:txBody>
          <a:bodyPr spcFirstLastPara="1" wrap="square" lIns="68569" tIns="34275" rIns="68569" bIns="34275" anchor="t" anchorCtr="0">
            <a:spAutoFit/>
          </a:bodyPr>
          <a:lstStyle/>
          <a:p>
            <a:pPr algn="ctr" defTabSz="685800"/>
            <a:r>
              <a:rPr lang="en-US" sz="3000" dirty="0">
                <a:solidFill>
                  <a:srgbClr val="C00000"/>
                </a:solidFill>
                <a:latin typeface="Calibri"/>
                <a:cs typeface="Poppins" pitchFamily="2" charset="77"/>
              </a:rPr>
              <a:t>  Department of MCA</a:t>
            </a:r>
          </a:p>
        </p:txBody>
      </p:sp>
      <p:sp>
        <p:nvSpPr>
          <p:cNvPr id="4" name="TextBox 3">
            <a:extLst>
              <a:ext uri="{FF2B5EF4-FFF2-40B4-BE49-F238E27FC236}">
                <a16:creationId xmlns:a16="http://schemas.microsoft.com/office/drawing/2014/main" id="{D26564C1-42F5-AD4A-0ADC-BCBCEC726661}"/>
              </a:ext>
            </a:extLst>
          </p:cNvPr>
          <p:cNvSpPr txBox="1"/>
          <p:nvPr/>
        </p:nvSpPr>
        <p:spPr>
          <a:xfrm>
            <a:off x="990600" y="1923364"/>
            <a:ext cx="6934200" cy="2308324"/>
          </a:xfrm>
          <a:prstGeom prst="rect">
            <a:avLst/>
          </a:prstGeom>
          <a:noFill/>
        </p:spPr>
        <p:txBody>
          <a:bodyPr wrap="square">
            <a:spAutoFit/>
          </a:bodyPr>
          <a:lstStyle/>
          <a:p>
            <a:r>
              <a:rPr lang="en-US" sz="4000" b="1" dirty="0">
                <a:latin typeface="Baskerville Old Face" panose="02020602080505020303" pitchFamily="18" charset="0"/>
              </a:rPr>
              <a:t>QR Code College Canteen Management System</a:t>
            </a:r>
            <a:br>
              <a:rPr lang="en-US" sz="4000" dirty="0">
                <a:solidFill>
                  <a:schemeClr val="accent4">
                    <a:lumMod val="50000"/>
                  </a:schemeClr>
                </a:solidFill>
                <a:latin typeface="Times New Roman" panose="02020603050405020304" pitchFamily="18" charset="0"/>
                <a:cs typeface="Times New Roman" panose="02020603050405020304" pitchFamily="18" charset="0"/>
              </a:rPr>
            </a:br>
            <a:br>
              <a:rPr lang="en-US" sz="4000" dirty="0">
                <a:solidFill>
                  <a:schemeClr val="accent4">
                    <a:lumMod val="50000"/>
                  </a:schemeClr>
                </a:solidFill>
                <a:latin typeface="Times New Roman" panose="02020603050405020304" pitchFamily="18" charset="0"/>
                <a:cs typeface="Times New Roman" panose="02020603050405020304" pitchFamily="18" charset="0"/>
              </a:rPr>
            </a:br>
            <a:r>
              <a:rPr lang="en-US" sz="2400" dirty="0">
                <a:solidFill>
                  <a:schemeClr val="accent4">
                    <a:lumMod val="50000"/>
                  </a:schemeClr>
                </a:solidFill>
                <a:latin typeface="Times New Roman" panose="02020603050405020304" pitchFamily="18" charset="0"/>
                <a:cs typeface="Times New Roman" panose="02020603050405020304" pitchFamily="18" charset="0"/>
              </a:rPr>
              <a:t>Under the Guidance of :-</a:t>
            </a:r>
            <a:r>
              <a:rPr lang="en-US" sz="2400" dirty="0">
                <a:solidFill>
                  <a:schemeClr val="accent4">
                    <a:lumMod val="50000"/>
                  </a:schemeClr>
                </a:solidFill>
                <a:latin typeface="Baskerville Old Face" panose="02020602080505020303" pitchFamily="18" charset="0"/>
                <a:cs typeface="Times New Roman" panose="02020603050405020304" pitchFamily="18" charset="0"/>
              </a:rPr>
              <a:t> </a:t>
            </a:r>
            <a:r>
              <a:rPr lang="en-US" sz="2400" dirty="0">
                <a:solidFill>
                  <a:srgbClr val="FF0000"/>
                </a:solidFill>
                <a:latin typeface="Baskerville Old Face" panose="02020602080505020303" pitchFamily="18" charset="0"/>
                <a:cs typeface="Times New Roman" panose="02020603050405020304" pitchFamily="18" charset="0"/>
              </a:rPr>
              <a:t>Dr</a:t>
            </a:r>
            <a:r>
              <a:rPr lang="en-US" sz="2400" dirty="0">
                <a:solidFill>
                  <a:schemeClr val="accent4">
                    <a:lumMod val="50000"/>
                  </a:schemeClr>
                </a:solidFill>
                <a:latin typeface="Times New Roman" panose="02020603050405020304" pitchFamily="18" charset="0"/>
                <a:cs typeface="Times New Roman" panose="02020603050405020304" pitchFamily="18" charset="0"/>
              </a:rPr>
              <a:t> </a:t>
            </a:r>
            <a:r>
              <a:rPr lang="en-US" sz="2400" b="1" dirty="0">
                <a:solidFill>
                  <a:srgbClr val="FF0000"/>
                </a:solidFill>
                <a:latin typeface="Times New Roman" panose="02020603050405020304" pitchFamily="18" charset="0"/>
                <a:cs typeface="Times New Roman" panose="02020603050405020304" pitchFamily="18" charset="0"/>
              </a:rPr>
              <a:t>MNV KIRAN BABU </a:t>
            </a:r>
            <a:r>
              <a:rPr lang="en-US" sz="2400" dirty="0">
                <a:latin typeface="Times New Roman" panose="02020603050405020304" pitchFamily="18" charset="0"/>
                <a:cs typeface="Times New Roman" panose="02020603050405020304" pitchFamily="18" charset="0"/>
              </a:rPr>
              <a:t>sir</a:t>
            </a:r>
          </a:p>
        </p:txBody>
      </p:sp>
      <p:sp>
        <p:nvSpPr>
          <p:cNvPr id="6" name="TextBox 5">
            <a:extLst>
              <a:ext uri="{FF2B5EF4-FFF2-40B4-BE49-F238E27FC236}">
                <a16:creationId xmlns:a16="http://schemas.microsoft.com/office/drawing/2014/main" id="{E85A6002-0BD6-E007-0EEC-34FFB9F2484A}"/>
              </a:ext>
            </a:extLst>
          </p:cNvPr>
          <p:cNvSpPr txBox="1"/>
          <p:nvPr/>
        </p:nvSpPr>
        <p:spPr>
          <a:xfrm>
            <a:off x="5867400" y="4724400"/>
            <a:ext cx="2895600" cy="1200329"/>
          </a:xfrm>
          <a:prstGeom prst="rect">
            <a:avLst/>
          </a:prstGeom>
          <a:noFill/>
        </p:spPr>
        <p:txBody>
          <a:bodyPr wrap="square">
            <a:spAutoFit/>
          </a:bodyPr>
          <a:lstStyle/>
          <a:p>
            <a:r>
              <a:rPr lang="en-US" dirty="0">
                <a:solidFill>
                  <a:schemeClr val="accent1">
                    <a:lumMod val="50000"/>
                  </a:schemeClr>
                </a:solidFill>
              </a:rPr>
              <a:t>By :- </a:t>
            </a:r>
            <a:r>
              <a:rPr lang="en-US" dirty="0">
                <a:solidFill>
                  <a:srgbClr val="FF0000"/>
                </a:solidFill>
              </a:rPr>
              <a:t>Tamma Rohith Reddy</a:t>
            </a:r>
          </a:p>
          <a:p>
            <a:r>
              <a:rPr lang="en-US" dirty="0">
                <a:solidFill>
                  <a:schemeClr val="accent1">
                    <a:lumMod val="50000"/>
                  </a:schemeClr>
                </a:solidFill>
              </a:rPr>
              <a:t>Roll No :- </a:t>
            </a:r>
            <a:r>
              <a:rPr lang="en-US" dirty="0">
                <a:solidFill>
                  <a:srgbClr val="FF0000"/>
                </a:solidFill>
              </a:rPr>
              <a:t>2401600139</a:t>
            </a:r>
          </a:p>
          <a:p>
            <a:r>
              <a:rPr lang="en-US" dirty="0">
                <a:solidFill>
                  <a:schemeClr val="accent1">
                    <a:lumMod val="50000"/>
                  </a:schemeClr>
                </a:solidFill>
              </a:rPr>
              <a:t>Dept. of MCA.</a:t>
            </a:r>
            <a:br>
              <a:rPr lang="en-US" dirty="0">
                <a:solidFill>
                  <a:schemeClr val="accent1">
                    <a:lumMod val="50000"/>
                  </a:schemeClr>
                </a:solidFill>
              </a:rPr>
            </a:br>
            <a:r>
              <a:rPr lang="en-US" dirty="0">
                <a:solidFill>
                  <a:schemeClr val="accent1">
                    <a:lumMod val="50000"/>
                  </a:schemeClr>
                </a:solidFill>
              </a:rPr>
              <a:t>KL University.</a:t>
            </a: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483ACE7-DC50-07F7-091C-8AC3F3122454}"/>
              </a:ext>
            </a:extLst>
          </p:cNvPr>
          <p:cNvSpPr txBox="1">
            <a:spLocks/>
          </p:cNvSpPr>
          <p:nvPr/>
        </p:nvSpPr>
        <p:spPr>
          <a:xfrm>
            <a:off x="283928" y="1066800"/>
            <a:ext cx="8825659" cy="4902201"/>
          </a:xfrm>
          <a:prstGeom prst="rect">
            <a:avLst/>
          </a:prstGeom>
        </p:spPr>
        <p:txBody>
          <a:bodyPr numCol="3" spcCol="36000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endParaRPr lang="en-IN" sz="1400" b="1"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IN"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Admin login</a:t>
            </a:r>
            <a:endParaRPr lang="en-IN" sz="1200" b="1"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Login: Admins can securely log in using authorized credentials to access system features.</a:t>
            </a:r>
          </a:p>
          <a:p>
            <a:r>
              <a:rPr lang="en-IN" sz="1200" dirty="0">
                <a:latin typeface="Times New Roman" panose="02020603050405020304" pitchFamily="18" charset="0"/>
                <a:cs typeface="Times New Roman" panose="02020603050405020304" pitchFamily="18" charset="0"/>
              </a:rPr>
              <a:t>Canteen Staff Management: Admins can add, view, update, or remove canteen staff from the system.</a:t>
            </a:r>
          </a:p>
          <a:p>
            <a:r>
              <a:rPr lang="en-IN" sz="1200" dirty="0">
                <a:latin typeface="Times New Roman" panose="02020603050405020304" pitchFamily="18" charset="0"/>
                <a:cs typeface="Times New Roman" panose="02020603050405020304" pitchFamily="18" charset="0"/>
              </a:rPr>
              <a:t>Dashboard Management:</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A graphical dashboard displays real-time statistics including:</a:t>
            </a:r>
          </a:p>
          <a:p>
            <a:r>
              <a:rPr lang="en-IN" sz="1200" dirty="0">
                <a:latin typeface="Times New Roman" panose="02020603050405020304" pitchFamily="18" charset="0"/>
                <a:cs typeface="Times New Roman" panose="02020603050405020304" pitchFamily="18" charset="0"/>
              </a:rPr>
              <a:t>Report Generation: Admins can download revenue and user data in Excel format for analysis and record-keeping.</a:t>
            </a:r>
          </a:p>
          <a:p>
            <a:r>
              <a:rPr lang="en-IN" sz="1200" dirty="0">
                <a:latin typeface="Times New Roman" panose="02020603050405020304" pitchFamily="18" charset="0"/>
                <a:cs typeface="Times New Roman" panose="02020603050405020304" pitchFamily="18" charset="0"/>
              </a:rPr>
              <a:t> Feedback Management: Admins can view feedback submitted by students for service   improvement.</a:t>
            </a:r>
          </a:p>
          <a:p>
            <a:r>
              <a:rPr lang="en-IN" sz="1200" dirty="0">
                <a:latin typeface="Times New Roman" panose="02020603050405020304" pitchFamily="18" charset="0"/>
                <a:cs typeface="Times New Roman" panose="02020603050405020304" pitchFamily="18" charset="0"/>
              </a:rPr>
              <a:t>Logout: Allows the administrator to safely exit the session.</a:t>
            </a:r>
          </a:p>
          <a:p>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Canteen login:</a:t>
            </a:r>
            <a:endParaRPr lang="en-IN" sz="1200" b="1"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Login: Canteen staff can log in securely to manage daily operations.</a:t>
            </a:r>
            <a:endParaRPr lang="en-IN"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Order Management: Staff can view pending and confirmed orders on a dashboard and update order status after delivery.</a:t>
            </a:r>
            <a:endParaRPr lang="en-IN"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QR Code / Order ID Confirmation: Orders can be retrieved and confirmed quickly using QR code scanning or by entering the Order ID.</a:t>
            </a:r>
            <a:endParaRPr lang="en-IN"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Food Item Management: Staff can add, delete, or update available food items on the menu.</a:t>
            </a:r>
            <a:endParaRPr lang="en-IN"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Inventory Management: Staff can track stock levels and update item quantities in real time.</a:t>
            </a:r>
            <a:endParaRPr lang="en-IN"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Logout: Allows staff to log out securely after completing tasks.</a:t>
            </a:r>
            <a:endParaRPr lang="en-IN"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Student login:</a:t>
            </a:r>
            <a:endParaRPr lang="en-IN" sz="1200" b="1"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Login: Students can securely log in to place orders and manage their accounts.</a:t>
            </a:r>
            <a:endParaRPr lang="en-IN"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Menu Browsing: Students can view the list of available food items with prices and descriptions.</a:t>
            </a:r>
            <a:endParaRPr lang="en-IN"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Order Placement: Students can add items to a cart, make payments, and receive an Order ID and a QR Code for order pickup.</a:t>
            </a:r>
            <a:endParaRPr lang="en-IN"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Order History: Students can track previous orders and payment statuses.</a:t>
            </a:r>
            <a:endParaRPr lang="en-IN"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Feedback Submission: Students can submit feedback to improve services.</a:t>
            </a:r>
            <a:endParaRPr lang="en-IN"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Profile Management: Students can manage their personal and contact information.</a:t>
            </a:r>
            <a:endParaRPr lang="en-IN"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Logout: Students can log out safely after using the system.</a:t>
            </a:r>
            <a:endParaRPr lang="en-IN" sz="12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4041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F74759-A718-FAE1-1E09-9AD943E43965}"/>
              </a:ext>
            </a:extLst>
          </p:cNvPr>
          <p:cNvPicPr/>
          <p:nvPr/>
        </p:nvPicPr>
        <p:blipFill>
          <a:blip r:embed="rId2"/>
          <a:stretch>
            <a:fillRect/>
          </a:stretch>
        </p:blipFill>
        <p:spPr>
          <a:xfrm>
            <a:off x="876300" y="914400"/>
            <a:ext cx="7391399" cy="5334000"/>
          </a:xfrm>
          <a:prstGeom prst="rect">
            <a:avLst/>
          </a:prstGeom>
        </p:spPr>
      </p:pic>
    </p:spTree>
    <p:extLst>
      <p:ext uri="{BB962C8B-B14F-4D97-AF65-F5344CB8AC3E}">
        <p14:creationId xmlns:p14="http://schemas.microsoft.com/office/powerpoint/2010/main" val="3029470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F4B0C87-49BC-6E68-BDDE-0806969D8BA7}"/>
              </a:ext>
            </a:extLst>
          </p:cNvPr>
          <p:cNvSpPr txBox="1">
            <a:spLocks/>
          </p:cNvSpPr>
          <p:nvPr/>
        </p:nvSpPr>
        <p:spPr>
          <a:xfrm>
            <a:off x="1752600" y="1524000"/>
            <a:ext cx="8946541" cy="4195481"/>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IN" b="1">
                <a:latin typeface="Times New Roman" panose="02020603050405020304" pitchFamily="18" charset="0"/>
                <a:cs typeface="Times New Roman" panose="02020603050405020304" pitchFamily="18" charset="0"/>
              </a:rPr>
              <a:t>HARDWARE REQUIREMENTS:</a:t>
            </a:r>
            <a:endParaRPr lang="en-IN">
              <a:latin typeface="Times New Roman" panose="02020603050405020304" pitchFamily="18" charset="0"/>
              <a:cs typeface="Times New Roman" panose="02020603050405020304" pitchFamily="18" charset="0"/>
            </a:endParaRPr>
          </a:p>
          <a:p>
            <a:r>
              <a:rPr lang="en-IN" b="1">
                <a:latin typeface="Times New Roman" panose="02020603050405020304" pitchFamily="18" charset="0"/>
                <a:cs typeface="Times New Roman" panose="02020603050405020304" pitchFamily="18" charset="0"/>
              </a:rPr>
              <a:t>Processor            	  -    I3/Intel Processor</a:t>
            </a:r>
          </a:p>
          <a:p>
            <a:r>
              <a:rPr lang="en-US">
                <a:latin typeface="Times New Roman" panose="02020603050405020304" pitchFamily="18" charset="0"/>
                <a:cs typeface="Times New Roman" panose="02020603050405020304" pitchFamily="18" charset="0"/>
              </a:rPr>
              <a:t>RAM                             -    4GB (min)</a:t>
            </a:r>
            <a:endParaRPr lang="en-IN">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Hard Disk                      -   160GB</a:t>
            </a:r>
            <a:r>
              <a:rPr lang="en-IN" b="1">
                <a:latin typeface="Times New Roman" panose="02020603050405020304" pitchFamily="18" charset="0"/>
                <a:cs typeface="Times New Roman" panose="02020603050405020304" pitchFamily="18" charset="0"/>
              </a:rPr>
              <a:t> </a:t>
            </a:r>
            <a:endParaRPr lang="en-IN">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IN" b="1">
                <a:latin typeface="Times New Roman" panose="02020603050405020304" pitchFamily="18" charset="0"/>
                <a:cs typeface="Times New Roman" panose="02020603050405020304" pitchFamily="18" charset="0"/>
              </a:rPr>
              <a:t>SOFTWARE SYSTEM CONFIGURATION:</a:t>
            </a:r>
            <a:endParaRPr lang="en-IN">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Operating System		:  Windows 7/8/10</a:t>
            </a:r>
            <a:endParaRPr lang="en-IN">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Front-end                       : HTML, CSS, JavaScript</a:t>
            </a:r>
            <a:endParaRPr lang="en-IN">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Backend                        : Django</a:t>
            </a:r>
            <a:endParaRPr lang="en-IN">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IDE/Workbench		:  VS Code</a:t>
            </a:r>
            <a:endParaRPr lang="en-IN">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Database			:  SQLLITE</a:t>
            </a:r>
            <a:endParaRPr lang="en-IN">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290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863A97E-9A3F-02E2-FBB4-DBDA8CA24335}"/>
              </a:ext>
            </a:extLst>
          </p:cNvPr>
          <p:cNvPicPr/>
          <p:nvPr/>
        </p:nvPicPr>
        <p:blipFill>
          <a:blip r:embed="rId2">
            <a:extLst>
              <a:ext uri="{28A0092B-C50C-407E-A947-70E740481C1C}">
                <a14:useLocalDpi xmlns:a14="http://schemas.microsoft.com/office/drawing/2010/main" val="0"/>
              </a:ext>
            </a:extLst>
          </a:blip>
          <a:stretch>
            <a:fillRect/>
          </a:stretch>
        </p:blipFill>
        <p:spPr>
          <a:xfrm>
            <a:off x="1371600" y="1104900"/>
            <a:ext cx="6705600" cy="4648200"/>
          </a:xfrm>
          <a:prstGeom prst="rect">
            <a:avLst/>
          </a:prstGeom>
        </p:spPr>
      </p:pic>
    </p:spTree>
    <p:extLst>
      <p:ext uri="{BB962C8B-B14F-4D97-AF65-F5344CB8AC3E}">
        <p14:creationId xmlns:p14="http://schemas.microsoft.com/office/powerpoint/2010/main" val="2137431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D08A28-1A75-D59E-AF20-16AA91141782}"/>
              </a:ext>
            </a:extLst>
          </p:cNvPr>
          <p:cNvSpPr>
            <a:spLocks noGrp="1"/>
          </p:cNvSpPr>
          <p:nvPr>
            <p:ph type="dt" sz="half" idx="10"/>
          </p:nvPr>
        </p:nvSpPr>
        <p:spPr/>
        <p:txBody>
          <a:bodyPr/>
          <a:lstStyle/>
          <a:p>
            <a:fld id="{F0926A81-3A46-4B7B-A2F8-E2A558D9191F}" type="datetime1">
              <a:rPr lang="en-US" smtClean="0">
                <a:solidFill>
                  <a:prstClr val="black">
                    <a:tint val="75000"/>
                  </a:prstClr>
                </a:solidFill>
              </a:rPr>
              <a:pPr/>
              <a:t>2/17/2026</a:t>
            </a:fld>
            <a:endParaRPr lang="en-US" dirty="0">
              <a:solidFill>
                <a:prstClr val="black">
                  <a:tint val="75000"/>
                </a:prstClr>
              </a:solidFill>
            </a:endParaRPr>
          </a:p>
        </p:txBody>
      </p:sp>
      <p:sp>
        <p:nvSpPr>
          <p:cNvPr id="3" name="Slide Number Placeholder 2">
            <a:extLst>
              <a:ext uri="{FF2B5EF4-FFF2-40B4-BE49-F238E27FC236}">
                <a16:creationId xmlns:a16="http://schemas.microsoft.com/office/drawing/2014/main" id="{84E363B2-7085-3156-16D9-1EB6936FA836}"/>
              </a:ext>
            </a:extLst>
          </p:cNvPr>
          <p:cNvSpPr>
            <a:spLocks noGrp="1"/>
          </p:cNvSpPr>
          <p:nvPr>
            <p:ph type="sldNum" sz="quarter" idx="12"/>
          </p:nvPr>
        </p:nvSpPr>
        <p:spPr/>
        <p:txBody>
          <a:bodyPr/>
          <a:lstStyle/>
          <a:p>
            <a:fld id="{B3561BA9-CDCF-4958-B8AB-66F3BF063E13}" type="slidenum">
              <a:rPr lang="en-US" smtClean="0">
                <a:solidFill>
                  <a:prstClr val="black">
                    <a:tint val="75000"/>
                  </a:prstClr>
                </a:solidFill>
              </a:rPr>
              <a:pPr/>
              <a:t>6</a:t>
            </a:fld>
            <a:endParaRPr lang="en-US" dirty="0">
              <a:solidFill>
                <a:prstClr val="black">
                  <a:tint val="75000"/>
                </a:prstClr>
              </a:solidFill>
            </a:endParaRPr>
          </a:p>
        </p:txBody>
      </p:sp>
      <p:pic>
        <p:nvPicPr>
          <p:cNvPr id="4" name="Picture 3">
            <a:extLst>
              <a:ext uri="{FF2B5EF4-FFF2-40B4-BE49-F238E27FC236}">
                <a16:creationId xmlns:a16="http://schemas.microsoft.com/office/drawing/2014/main" id="{7386BE1F-0EC5-BB22-E978-51ECC35BBA0B}"/>
              </a:ext>
            </a:extLst>
          </p:cNvPr>
          <p:cNvPicPr/>
          <p:nvPr/>
        </p:nvPicPr>
        <p:blipFill>
          <a:blip r:embed="rId2">
            <a:extLst>
              <a:ext uri="{28A0092B-C50C-407E-A947-70E740481C1C}">
                <a14:useLocalDpi xmlns:a14="http://schemas.microsoft.com/office/drawing/2010/main" val="0"/>
              </a:ext>
            </a:extLst>
          </a:blip>
          <a:stretch>
            <a:fillRect/>
          </a:stretch>
        </p:blipFill>
        <p:spPr>
          <a:xfrm>
            <a:off x="914400" y="1066800"/>
            <a:ext cx="7543800" cy="4724400"/>
          </a:xfrm>
          <a:prstGeom prst="rect">
            <a:avLst/>
          </a:prstGeom>
        </p:spPr>
      </p:pic>
    </p:spTree>
    <p:extLst>
      <p:ext uri="{BB962C8B-B14F-4D97-AF65-F5344CB8AC3E}">
        <p14:creationId xmlns:p14="http://schemas.microsoft.com/office/powerpoint/2010/main" val="1368310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EA783D-8B8D-AD4E-0AE5-7468D562C37E}"/>
              </a:ext>
            </a:extLst>
          </p:cNvPr>
          <p:cNvSpPr>
            <a:spLocks noGrp="1"/>
          </p:cNvSpPr>
          <p:nvPr>
            <p:ph type="dt" sz="half" idx="10"/>
          </p:nvPr>
        </p:nvSpPr>
        <p:spPr/>
        <p:txBody>
          <a:bodyPr/>
          <a:lstStyle/>
          <a:p>
            <a:fld id="{F0926A81-3A46-4B7B-A2F8-E2A558D9191F}" type="datetime1">
              <a:rPr lang="en-US" smtClean="0">
                <a:solidFill>
                  <a:prstClr val="black">
                    <a:tint val="75000"/>
                  </a:prstClr>
                </a:solidFill>
              </a:rPr>
              <a:pPr/>
              <a:t>2/17/2026</a:t>
            </a:fld>
            <a:endParaRPr lang="en-US" dirty="0">
              <a:solidFill>
                <a:prstClr val="black">
                  <a:tint val="75000"/>
                </a:prstClr>
              </a:solidFill>
            </a:endParaRPr>
          </a:p>
        </p:txBody>
      </p:sp>
      <p:sp>
        <p:nvSpPr>
          <p:cNvPr id="3" name="Slide Number Placeholder 2">
            <a:extLst>
              <a:ext uri="{FF2B5EF4-FFF2-40B4-BE49-F238E27FC236}">
                <a16:creationId xmlns:a16="http://schemas.microsoft.com/office/drawing/2014/main" id="{B07DC31E-2F72-4453-56F0-78289A64862D}"/>
              </a:ext>
            </a:extLst>
          </p:cNvPr>
          <p:cNvSpPr>
            <a:spLocks noGrp="1"/>
          </p:cNvSpPr>
          <p:nvPr>
            <p:ph type="sldNum" sz="quarter" idx="12"/>
          </p:nvPr>
        </p:nvSpPr>
        <p:spPr/>
        <p:txBody>
          <a:bodyPr/>
          <a:lstStyle/>
          <a:p>
            <a:fld id="{B3561BA9-CDCF-4958-B8AB-66F3BF063E13}" type="slidenum">
              <a:rPr lang="en-US" smtClean="0">
                <a:solidFill>
                  <a:prstClr val="black">
                    <a:tint val="75000"/>
                  </a:prstClr>
                </a:solidFill>
              </a:rPr>
              <a:pPr/>
              <a:t>7</a:t>
            </a:fld>
            <a:endParaRPr lang="en-US" dirty="0">
              <a:solidFill>
                <a:prstClr val="black">
                  <a:tint val="75000"/>
                </a:prstClr>
              </a:solidFill>
            </a:endParaRPr>
          </a:p>
        </p:txBody>
      </p:sp>
      <p:pic>
        <p:nvPicPr>
          <p:cNvPr id="4" name="Picture 3">
            <a:extLst>
              <a:ext uri="{FF2B5EF4-FFF2-40B4-BE49-F238E27FC236}">
                <a16:creationId xmlns:a16="http://schemas.microsoft.com/office/drawing/2014/main" id="{3FE2BF23-30C3-D47A-B853-BE7626196C68}"/>
              </a:ext>
            </a:extLst>
          </p:cNvPr>
          <p:cNvPicPr/>
          <p:nvPr/>
        </p:nvPicPr>
        <p:blipFill>
          <a:blip r:embed="rId2">
            <a:extLst>
              <a:ext uri="{28A0092B-C50C-407E-A947-70E740481C1C}">
                <a14:useLocalDpi xmlns:a14="http://schemas.microsoft.com/office/drawing/2010/main" val="0"/>
              </a:ext>
            </a:extLst>
          </a:blip>
          <a:stretch>
            <a:fillRect/>
          </a:stretch>
        </p:blipFill>
        <p:spPr>
          <a:xfrm>
            <a:off x="800100" y="838200"/>
            <a:ext cx="7543800" cy="5334000"/>
          </a:xfrm>
          <a:prstGeom prst="rect">
            <a:avLst/>
          </a:prstGeom>
        </p:spPr>
      </p:pic>
    </p:spTree>
    <p:extLst>
      <p:ext uri="{BB962C8B-B14F-4D97-AF65-F5344CB8AC3E}">
        <p14:creationId xmlns:p14="http://schemas.microsoft.com/office/powerpoint/2010/main" val="3467041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496A40-25D2-D1C7-BE72-DA5B00906210}"/>
              </a:ext>
            </a:extLst>
          </p:cNvPr>
          <p:cNvPicPr/>
          <p:nvPr/>
        </p:nvPicPr>
        <p:blipFill>
          <a:blip r:embed="rId2">
            <a:extLst>
              <a:ext uri="{28A0092B-C50C-407E-A947-70E740481C1C}">
                <a14:useLocalDpi xmlns:a14="http://schemas.microsoft.com/office/drawing/2010/main" val="0"/>
              </a:ext>
            </a:extLst>
          </a:blip>
          <a:stretch>
            <a:fillRect/>
          </a:stretch>
        </p:blipFill>
        <p:spPr>
          <a:xfrm>
            <a:off x="710381" y="843116"/>
            <a:ext cx="3886200" cy="2844800"/>
          </a:xfrm>
          <a:prstGeom prst="rect">
            <a:avLst/>
          </a:prstGeom>
        </p:spPr>
      </p:pic>
      <p:pic>
        <p:nvPicPr>
          <p:cNvPr id="4" name="Picture 3">
            <a:extLst>
              <a:ext uri="{FF2B5EF4-FFF2-40B4-BE49-F238E27FC236}">
                <a16:creationId xmlns:a16="http://schemas.microsoft.com/office/drawing/2014/main" id="{BCE099AC-6BC6-52F3-0640-737B1768564D}"/>
              </a:ext>
            </a:extLst>
          </p:cNvPr>
          <p:cNvPicPr/>
          <p:nvPr/>
        </p:nvPicPr>
        <p:blipFill>
          <a:blip r:embed="rId3">
            <a:extLst>
              <a:ext uri="{28A0092B-C50C-407E-A947-70E740481C1C}">
                <a14:useLocalDpi xmlns:a14="http://schemas.microsoft.com/office/drawing/2010/main" val="0"/>
              </a:ext>
            </a:extLst>
          </a:blip>
          <a:stretch>
            <a:fillRect/>
          </a:stretch>
        </p:blipFill>
        <p:spPr>
          <a:xfrm>
            <a:off x="4835012" y="879987"/>
            <a:ext cx="3886200" cy="2844800"/>
          </a:xfrm>
          <a:prstGeom prst="rect">
            <a:avLst/>
          </a:prstGeom>
        </p:spPr>
      </p:pic>
      <p:pic>
        <p:nvPicPr>
          <p:cNvPr id="5" name="Picture 4">
            <a:extLst>
              <a:ext uri="{FF2B5EF4-FFF2-40B4-BE49-F238E27FC236}">
                <a16:creationId xmlns:a16="http://schemas.microsoft.com/office/drawing/2014/main" id="{6ADF2845-14D2-C02A-D068-22609B4AFA71}"/>
              </a:ext>
            </a:extLst>
          </p:cNvPr>
          <p:cNvPicPr/>
          <p:nvPr/>
        </p:nvPicPr>
        <p:blipFill>
          <a:blip r:embed="rId4">
            <a:extLst>
              <a:ext uri="{28A0092B-C50C-407E-A947-70E740481C1C}">
                <a14:useLocalDpi xmlns:a14="http://schemas.microsoft.com/office/drawing/2010/main" val="0"/>
              </a:ext>
            </a:extLst>
          </a:blip>
          <a:stretch>
            <a:fillRect/>
          </a:stretch>
        </p:blipFill>
        <p:spPr>
          <a:xfrm>
            <a:off x="710381" y="3810000"/>
            <a:ext cx="4063181" cy="2844800"/>
          </a:xfrm>
          <a:prstGeom prst="rect">
            <a:avLst/>
          </a:prstGeom>
        </p:spPr>
      </p:pic>
      <p:pic>
        <p:nvPicPr>
          <p:cNvPr id="6" name="Picture 5">
            <a:extLst>
              <a:ext uri="{FF2B5EF4-FFF2-40B4-BE49-F238E27FC236}">
                <a16:creationId xmlns:a16="http://schemas.microsoft.com/office/drawing/2014/main" id="{0AB73D4E-DE9C-243F-359E-3C8268016274}"/>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5085735" y="3886200"/>
            <a:ext cx="3650225" cy="2667000"/>
          </a:xfrm>
          <a:prstGeom prst="rect">
            <a:avLst/>
          </a:prstGeom>
        </p:spPr>
      </p:pic>
    </p:spTree>
    <p:extLst>
      <p:ext uri="{BB962C8B-B14F-4D97-AF65-F5344CB8AC3E}">
        <p14:creationId xmlns:p14="http://schemas.microsoft.com/office/powerpoint/2010/main" val="3736323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76009F3-25DE-C078-3D02-6EE62B2457FF}"/>
              </a:ext>
            </a:extLst>
          </p:cNvPr>
          <p:cNvSpPr txBox="1">
            <a:spLocks/>
          </p:cNvSpPr>
          <p:nvPr/>
        </p:nvSpPr>
        <p:spPr>
          <a:xfrm>
            <a:off x="121443" y="1905000"/>
            <a:ext cx="8901114" cy="4013200"/>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buNone/>
            </a:pPr>
            <a:r>
              <a:rPr lang="en-US" dirty="0">
                <a:latin typeface="Times New Roman" panose="02020603050405020304" pitchFamily="18" charset="0"/>
                <a:cs typeface="Times New Roman" panose="02020603050405020304" pitchFamily="18" charset="0"/>
              </a:rPr>
              <a:t>1.  Enables fast and contactless order placement using QR codes and Order IDs.</a:t>
            </a:r>
            <a:endParaRPr lang="en-IN"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2.  Reduces waiting time and crowding in the canteen.</a:t>
            </a:r>
            <a:endParaRPr lang="en-IN"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3.  Provides real-time order tracking and confirmation for canteen staff.</a:t>
            </a:r>
            <a:endParaRPr lang="en-IN"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4.  Simplifies inventory management with instant stock updates.</a:t>
            </a:r>
            <a:endParaRPr lang="en-IN"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5. Offers a centralized admin dashboard for monitoring students, staff, orders, and revenue.</a:t>
            </a:r>
            <a:endParaRPr lang="en-IN" dirty="0">
              <a:latin typeface="Times New Roman" panose="02020603050405020304" pitchFamily="18" charset="0"/>
              <a:cs typeface="Times New Roman" panose="02020603050405020304" pitchFamily="18" charset="0"/>
            </a:endParaRPr>
          </a:p>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9D61D057-539C-BD68-A26C-61B42651645F}"/>
              </a:ext>
            </a:extLst>
          </p:cNvPr>
          <p:cNvSpPr txBox="1">
            <a:spLocks/>
          </p:cNvSpPr>
          <p:nvPr/>
        </p:nvSpPr>
        <p:spPr>
          <a:xfrm rot="10800000" flipV="1">
            <a:off x="3581400" y="802181"/>
            <a:ext cx="4308492" cy="1636219"/>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buNone/>
            </a:pPr>
            <a:r>
              <a:rPr lang="en-IN" sz="2400" b="1" dirty="0">
                <a:latin typeface="Times New Roman" panose="02020603050405020304" pitchFamily="18" charset="0"/>
                <a:cs typeface="Times New Roman" panose="02020603050405020304" pitchFamily="18" charset="0"/>
              </a:rPr>
              <a:t>challenges</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1965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1B9CD-EEF7-26EE-ACBC-2D38BE97DD4D}"/>
              </a:ext>
            </a:extLst>
          </p:cNvPr>
          <p:cNvSpPr txBox="1">
            <a:spLocks/>
          </p:cNvSpPr>
          <p:nvPr/>
        </p:nvSpPr>
        <p:spPr>
          <a:xfrm>
            <a:off x="2324100" y="762000"/>
            <a:ext cx="4495800" cy="53340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IN" b="1" dirty="0"/>
              <a:t>FUTURE ENHANCEMETS</a:t>
            </a:r>
          </a:p>
        </p:txBody>
      </p:sp>
      <p:sp>
        <p:nvSpPr>
          <p:cNvPr id="4" name="Content Placeholder 2">
            <a:extLst>
              <a:ext uri="{FF2B5EF4-FFF2-40B4-BE49-F238E27FC236}">
                <a16:creationId xmlns:a16="http://schemas.microsoft.com/office/drawing/2014/main" id="{AA68175E-A4FF-7252-A17C-91FB3506AB25}"/>
              </a:ext>
            </a:extLst>
          </p:cNvPr>
          <p:cNvSpPr txBox="1">
            <a:spLocks/>
          </p:cNvSpPr>
          <p:nvPr/>
        </p:nvSpPr>
        <p:spPr>
          <a:xfrm>
            <a:off x="304800" y="1600200"/>
            <a:ext cx="8305800" cy="4114800"/>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latin typeface="Times New Roman" panose="02020603050405020304" pitchFamily="18" charset="0"/>
                <a:cs typeface="Times New Roman" panose="02020603050405020304" pitchFamily="18" charset="0"/>
              </a:rPr>
              <a:t>In the future, the QR-Based College Canteen Web Application can be enhanced with several advanced features to improve user experience and operational efficiency. Integrating a secure online payment gateway such as UPI or </a:t>
            </a:r>
            <a:r>
              <a:rPr lang="en-US" dirty="0" err="1">
                <a:latin typeface="Times New Roman" panose="02020603050405020304" pitchFamily="18" charset="0"/>
                <a:cs typeface="Times New Roman" panose="02020603050405020304" pitchFamily="18" charset="0"/>
              </a:rPr>
              <a:t>Razorpay</a:t>
            </a:r>
            <a:r>
              <a:rPr lang="en-US" dirty="0">
                <a:latin typeface="Times New Roman" panose="02020603050405020304" pitchFamily="18" charset="0"/>
                <a:cs typeface="Times New Roman" panose="02020603050405020304" pitchFamily="18" charset="0"/>
              </a:rPr>
              <a:t> would enable students to make instant, cashless payments. Developing a dedicated mobile application for Android and iOS can offer convenient access, real-time notifications, and on-the-go ordering. Incorporating AI-based food recommendations based on order history and preferences can personalize the user experience. Expanding support for multiple canteens or campuses through a centralized admin system will make the platform scalable. A feedback analytics dashboard can help the admin analyze user satisfaction and improve services over time. Lastly, enabling offline QR scanning with sync support can ensure uninterrupted operations even during network issues.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2491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9A0A5-691A-5292-4C01-562FBE6040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A6508C-3656-D727-298B-6068309F7CEB}"/>
              </a:ext>
            </a:extLst>
          </p:cNvPr>
          <p:cNvSpPr txBox="1">
            <a:spLocks/>
          </p:cNvSpPr>
          <p:nvPr/>
        </p:nvSpPr>
        <p:spPr>
          <a:xfrm>
            <a:off x="2590800" y="990600"/>
            <a:ext cx="3650034" cy="537882"/>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IN" dirty="0"/>
              <a:t>CONCLUSION</a:t>
            </a:r>
          </a:p>
        </p:txBody>
      </p:sp>
      <p:sp>
        <p:nvSpPr>
          <p:cNvPr id="4" name="Content Placeholder 2">
            <a:extLst>
              <a:ext uri="{FF2B5EF4-FFF2-40B4-BE49-F238E27FC236}">
                <a16:creationId xmlns:a16="http://schemas.microsoft.com/office/drawing/2014/main" id="{412F3899-7D98-4831-3D61-611A5F3E2723}"/>
              </a:ext>
            </a:extLst>
          </p:cNvPr>
          <p:cNvSpPr txBox="1">
            <a:spLocks/>
          </p:cNvSpPr>
          <p:nvPr/>
        </p:nvSpPr>
        <p:spPr>
          <a:xfrm>
            <a:off x="272290" y="1880854"/>
            <a:ext cx="8287054" cy="4195481"/>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latin typeface="Times New Roman" panose="02020603050405020304" pitchFamily="18" charset="0"/>
                <a:cs typeface="Times New Roman" panose="02020603050405020304" pitchFamily="18" charset="0"/>
              </a:rPr>
              <a:t>In conclusion, the QR-Based College Canteen Web Application provides an innovative, efficient, and contactless solution to streamline food ordering and management within educational institutions. By integrating modules for students, canteen staff, and administrators, the system ensures transparency, real-time updates, and ease of use across all user levels. The use of technologies like QR code scanning, Django backend, and a responsive frontend enhances the overall experience, reduces manual errors, and supports a digital-first approach. With the potential for future enhancements such as mobile apps, AI-driven recommendations, and payment gateway integration, this platform can evolve into a comprehensive smart canteen ecosystem that meets the growing demands of modern campus life.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2821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F03752-B11D-7302-2373-008249853AB8}"/>
              </a:ext>
            </a:extLst>
          </p:cNvPr>
          <p:cNvSpPr>
            <a:spLocks noGrp="1"/>
          </p:cNvSpPr>
          <p:nvPr>
            <p:ph type="dt" sz="half" idx="10"/>
          </p:nvPr>
        </p:nvSpPr>
        <p:spPr/>
        <p:txBody>
          <a:bodyPr/>
          <a:lstStyle/>
          <a:p>
            <a:fld id="{F0926A81-3A46-4B7B-A2F8-E2A558D9191F}" type="datetime1">
              <a:rPr lang="en-US" smtClean="0">
                <a:solidFill>
                  <a:prstClr val="black">
                    <a:tint val="75000"/>
                  </a:prstClr>
                </a:solidFill>
              </a:rPr>
              <a:pPr/>
              <a:t>2/17/2026</a:t>
            </a:fld>
            <a:endParaRPr lang="en-US" dirty="0">
              <a:solidFill>
                <a:prstClr val="black">
                  <a:tint val="75000"/>
                </a:prstClr>
              </a:solidFill>
            </a:endParaRPr>
          </a:p>
        </p:txBody>
      </p:sp>
      <p:sp>
        <p:nvSpPr>
          <p:cNvPr id="3" name="Slide Number Placeholder 2">
            <a:extLst>
              <a:ext uri="{FF2B5EF4-FFF2-40B4-BE49-F238E27FC236}">
                <a16:creationId xmlns:a16="http://schemas.microsoft.com/office/drawing/2014/main" id="{D811B0F4-D675-2C5C-A8E6-99FEB064B566}"/>
              </a:ext>
            </a:extLst>
          </p:cNvPr>
          <p:cNvSpPr>
            <a:spLocks noGrp="1"/>
          </p:cNvSpPr>
          <p:nvPr>
            <p:ph type="sldNum" sz="quarter" idx="12"/>
          </p:nvPr>
        </p:nvSpPr>
        <p:spPr/>
        <p:txBody>
          <a:bodyPr/>
          <a:lstStyle/>
          <a:p>
            <a:fld id="{B3561BA9-CDCF-4958-B8AB-66F3BF063E13}" type="slidenum">
              <a:rPr lang="en-US" smtClean="0">
                <a:solidFill>
                  <a:prstClr val="black">
                    <a:tint val="75000"/>
                  </a:prstClr>
                </a:solidFill>
              </a:rPr>
              <a:pPr/>
              <a:t>12</a:t>
            </a:fld>
            <a:endParaRPr lang="en-US" dirty="0">
              <a:solidFill>
                <a:prstClr val="black">
                  <a:tint val="75000"/>
                </a:prstClr>
              </a:solidFill>
            </a:endParaRPr>
          </a:p>
        </p:txBody>
      </p:sp>
      <p:sp>
        <p:nvSpPr>
          <p:cNvPr id="4" name="Title 1">
            <a:extLst>
              <a:ext uri="{FF2B5EF4-FFF2-40B4-BE49-F238E27FC236}">
                <a16:creationId xmlns:a16="http://schemas.microsoft.com/office/drawing/2014/main" id="{46FF67BC-5FBB-B245-576D-645960924608}"/>
              </a:ext>
            </a:extLst>
          </p:cNvPr>
          <p:cNvSpPr txBox="1">
            <a:spLocks/>
          </p:cNvSpPr>
          <p:nvPr/>
        </p:nvSpPr>
        <p:spPr>
          <a:xfrm>
            <a:off x="0" y="3124200"/>
            <a:ext cx="9404723" cy="140053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IN" sz="5400" b="1" dirty="0">
                <a:solidFill>
                  <a:schemeClr val="accent2"/>
                </a:solidFill>
              </a:rPr>
              <a:t>THANK YOU</a:t>
            </a:r>
          </a:p>
        </p:txBody>
      </p:sp>
    </p:spTree>
    <p:extLst>
      <p:ext uri="{BB962C8B-B14F-4D97-AF65-F5344CB8AC3E}">
        <p14:creationId xmlns:p14="http://schemas.microsoft.com/office/powerpoint/2010/main" val="2676684475"/>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1896</TotalTime>
  <Words>748</Words>
  <Application>Microsoft Office PowerPoint</Application>
  <PresentationFormat>On-screen Show (4:3)</PresentationFormat>
  <Paragraphs>65</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Baskerville Old Face</vt:lpstr>
      <vt:lpstr>Calibri</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ROHITH REDDY</cp:lastModifiedBy>
  <cp:revision>152</cp:revision>
  <dcterms:created xsi:type="dcterms:W3CDTF">2023-01-22T02:22:32Z</dcterms:created>
  <dcterms:modified xsi:type="dcterms:W3CDTF">2026-02-17T06:37:55Z</dcterms:modified>
</cp:coreProperties>
</file>